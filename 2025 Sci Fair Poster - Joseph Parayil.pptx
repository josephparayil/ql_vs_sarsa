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Lst>
  <p:sldSz cy="57607200" cx="43891200"/>
  <p:notesSz cx="6858000" cy="9144000"/>
  <p:embeddedFontLst>
    <p:embeddedFont>
      <p:font typeface="Comfortaa"/>
      <p:regular r:id="rId7"/>
      <p:bold r:id="rId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font" Target="fonts/Comfortaa-regular.fntdata"/><Relationship Id="rId8" Type="http://schemas.openxmlformats.org/officeDocument/2006/relationships/font" Target="fonts/Comfortaa-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23024" y="685800"/>
            <a:ext cx="26127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2123024" y="685800"/>
            <a:ext cx="26127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2b6c619580_7_6:notes"/>
          <p:cNvSpPr/>
          <p:nvPr>
            <p:ph idx="2" type="sldImg"/>
          </p:nvPr>
        </p:nvSpPr>
        <p:spPr>
          <a:xfrm>
            <a:off x="2123024" y="685800"/>
            <a:ext cx="26127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2b6c619580_7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1496200" y="8339240"/>
            <a:ext cx="40899000" cy="22989600"/>
          </a:xfrm>
          <a:prstGeom prst="rect">
            <a:avLst/>
          </a:prstGeom>
        </p:spPr>
        <p:txBody>
          <a:bodyPr anchorCtr="0" anchor="b" bIns="487600" lIns="487600" spcFirstLastPara="1" rIns="487600" wrap="square" tIns="487600">
            <a:normAutofit/>
          </a:bodyPr>
          <a:lstStyle>
            <a:lvl1pPr lvl="0" algn="ctr">
              <a:spcBef>
                <a:spcPts val="0"/>
              </a:spcBef>
              <a:spcAft>
                <a:spcPts val="0"/>
              </a:spcAft>
              <a:buSzPts val="27700"/>
              <a:buNone/>
              <a:defRPr sz="27700"/>
            </a:lvl1pPr>
            <a:lvl2pPr lvl="1" algn="ctr">
              <a:spcBef>
                <a:spcPts val="0"/>
              </a:spcBef>
              <a:spcAft>
                <a:spcPts val="0"/>
              </a:spcAft>
              <a:buSzPts val="27700"/>
              <a:buNone/>
              <a:defRPr sz="27700"/>
            </a:lvl2pPr>
            <a:lvl3pPr lvl="2" algn="ctr">
              <a:spcBef>
                <a:spcPts val="0"/>
              </a:spcBef>
              <a:spcAft>
                <a:spcPts val="0"/>
              </a:spcAft>
              <a:buSzPts val="27700"/>
              <a:buNone/>
              <a:defRPr sz="27700"/>
            </a:lvl3pPr>
            <a:lvl4pPr lvl="3" algn="ctr">
              <a:spcBef>
                <a:spcPts val="0"/>
              </a:spcBef>
              <a:spcAft>
                <a:spcPts val="0"/>
              </a:spcAft>
              <a:buSzPts val="27700"/>
              <a:buNone/>
              <a:defRPr sz="27700"/>
            </a:lvl4pPr>
            <a:lvl5pPr lvl="4" algn="ctr">
              <a:spcBef>
                <a:spcPts val="0"/>
              </a:spcBef>
              <a:spcAft>
                <a:spcPts val="0"/>
              </a:spcAft>
              <a:buSzPts val="27700"/>
              <a:buNone/>
              <a:defRPr sz="27700"/>
            </a:lvl5pPr>
            <a:lvl6pPr lvl="5" algn="ctr">
              <a:spcBef>
                <a:spcPts val="0"/>
              </a:spcBef>
              <a:spcAft>
                <a:spcPts val="0"/>
              </a:spcAft>
              <a:buSzPts val="27700"/>
              <a:buNone/>
              <a:defRPr sz="27700"/>
            </a:lvl6pPr>
            <a:lvl7pPr lvl="6" algn="ctr">
              <a:spcBef>
                <a:spcPts val="0"/>
              </a:spcBef>
              <a:spcAft>
                <a:spcPts val="0"/>
              </a:spcAft>
              <a:buSzPts val="27700"/>
              <a:buNone/>
              <a:defRPr sz="27700"/>
            </a:lvl7pPr>
            <a:lvl8pPr lvl="7" algn="ctr">
              <a:spcBef>
                <a:spcPts val="0"/>
              </a:spcBef>
              <a:spcAft>
                <a:spcPts val="0"/>
              </a:spcAft>
              <a:buSzPts val="27700"/>
              <a:buNone/>
              <a:defRPr sz="27700"/>
            </a:lvl8pPr>
            <a:lvl9pPr lvl="8" algn="ctr">
              <a:spcBef>
                <a:spcPts val="0"/>
              </a:spcBef>
              <a:spcAft>
                <a:spcPts val="0"/>
              </a:spcAft>
              <a:buSzPts val="27700"/>
              <a:buNone/>
              <a:defRPr sz="27700"/>
            </a:lvl9pPr>
          </a:lstStyle>
          <a:p/>
        </p:txBody>
      </p:sp>
      <p:sp>
        <p:nvSpPr>
          <p:cNvPr id="11" name="Google Shape;11;p2"/>
          <p:cNvSpPr txBox="1"/>
          <p:nvPr>
            <p:ph idx="1" type="subTitle"/>
          </p:nvPr>
        </p:nvSpPr>
        <p:spPr>
          <a:xfrm>
            <a:off x="1496160" y="31742200"/>
            <a:ext cx="40899000" cy="8877600"/>
          </a:xfrm>
          <a:prstGeom prst="rect">
            <a:avLst/>
          </a:prstGeom>
        </p:spPr>
        <p:txBody>
          <a:bodyPr anchorCtr="0" anchor="t" bIns="487600" lIns="487600" spcFirstLastPara="1" rIns="487600" wrap="square" tIns="487600">
            <a:normAutofit/>
          </a:bodyPr>
          <a:lstStyle>
            <a:lvl1pPr lvl="0" algn="ctr">
              <a:lnSpc>
                <a:spcPct val="100000"/>
              </a:lnSpc>
              <a:spcBef>
                <a:spcPts val="0"/>
              </a:spcBef>
              <a:spcAft>
                <a:spcPts val="0"/>
              </a:spcAft>
              <a:buSzPts val="14900"/>
              <a:buNone/>
              <a:defRPr sz="14900"/>
            </a:lvl1pPr>
            <a:lvl2pPr lvl="1" algn="ctr">
              <a:lnSpc>
                <a:spcPct val="100000"/>
              </a:lnSpc>
              <a:spcBef>
                <a:spcPts val="0"/>
              </a:spcBef>
              <a:spcAft>
                <a:spcPts val="0"/>
              </a:spcAft>
              <a:buSzPts val="14900"/>
              <a:buNone/>
              <a:defRPr sz="14900"/>
            </a:lvl2pPr>
            <a:lvl3pPr lvl="2" algn="ctr">
              <a:lnSpc>
                <a:spcPct val="100000"/>
              </a:lnSpc>
              <a:spcBef>
                <a:spcPts val="0"/>
              </a:spcBef>
              <a:spcAft>
                <a:spcPts val="0"/>
              </a:spcAft>
              <a:buSzPts val="14900"/>
              <a:buNone/>
              <a:defRPr sz="14900"/>
            </a:lvl3pPr>
            <a:lvl4pPr lvl="3" algn="ctr">
              <a:lnSpc>
                <a:spcPct val="100000"/>
              </a:lnSpc>
              <a:spcBef>
                <a:spcPts val="0"/>
              </a:spcBef>
              <a:spcAft>
                <a:spcPts val="0"/>
              </a:spcAft>
              <a:buSzPts val="14900"/>
              <a:buNone/>
              <a:defRPr sz="14900"/>
            </a:lvl4pPr>
            <a:lvl5pPr lvl="4" algn="ctr">
              <a:lnSpc>
                <a:spcPct val="100000"/>
              </a:lnSpc>
              <a:spcBef>
                <a:spcPts val="0"/>
              </a:spcBef>
              <a:spcAft>
                <a:spcPts val="0"/>
              </a:spcAft>
              <a:buSzPts val="14900"/>
              <a:buNone/>
              <a:defRPr sz="14900"/>
            </a:lvl5pPr>
            <a:lvl6pPr lvl="5" algn="ctr">
              <a:lnSpc>
                <a:spcPct val="100000"/>
              </a:lnSpc>
              <a:spcBef>
                <a:spcPts val="0"/>
              </a:spcBef>
              <a:spcAft>
                <a:spcPts val="0"/>
              </a:spcAft>
              <a:buSzPts val="14900"/>
              <a:buNone/>
              <a:defRPr sz="14900"/>
            </a:lvl6pPr>
            <a:lvl7pPr lvl="6" algn="ctr">
              <a:lnSpc>
                <a:spcPct val="100000"/>
              </a:lnSpc>
              <a:spcBef>
                <a:spcPts val="0"/>
              </a:spcBef>
              <a:spcAft>
                <a:spcPts val="0"/>
              </a:spcAft>
              <a:buSzPts val="14900"/>
              <a:buNone/>
              <a:defRPr sz="14900"/>
            </a:lvl7pPr>
            <a:lvl8pPr lvl="7" algn="ctr">
              <a:lnSpc>
                <a:spcPct val="100000"/>
              </a:lnSpc>
              <a:spcBef>
                <a:spcPts val="0"/>
              </a:spcBef>
              <a:spcAft>
                <a:spcPts val="0"/>
              </a:spcAft>
              <a:buSzPts val="14900"/>
              <a:buNone/>
              <a:defRPr sz="14900"/>
            </a:lvl8pPr>
            <a:lvl9pPr lvl="8" algn="ctr">
              <a:lnSpc>
                <a:spcPct val="100000"/>
              </a:lnSpc>
              <a:spcBef>
                <a:spcPts val="0"/>
              </a:spcBef>
              <a:spcAft>
                <a:spcPts val="0"/>
              </a:spcAft>
              <a:buSzPts val="14900"/>
              <a:buNone/>
              <a:defRPr sz="14900"/>
            </a:lvl9pPr>
          </a:lstStyle>
          <a:p/>
        </p:txBody>
      </p:sp>
      <p:sp>
        <p:nvSpPr>
          <p:cNvPr id="12" name="Google Shape;12;p2"/>
          <p:cNvSpPr txBox="1"/>
          <p:nvPr>
            <p:ph idx="12" type="sldNum"/>
          </p:nvPr>
        </p:nvSpPr>
        <p:spPr>
          <a:xfrm>
            <a:off x="40667798" y="52228028"/>
            <a:ext cx="2633700" cy="4408800"/>
          </a:xfrm>
          <a:prstGeom prst="rect">
            <a:avLst/>
          </a:prstGeom>
        </p:spPr>
        <p:txBody>
          <a:bodyPr anchorCtr="0" anchor="ctr" bIns="487600" lIns="487600" spcFirstLastPara="1" rIns="487600" wrap="square" tIns="4876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1496160" y="24089520"/>
            <a:ext cx="40899000" cy="9428100"/>
          </a:xfrm>
          <a:prstGeom prst="rect">
            <a:avLst/>
          </a:prstGeom>
        </p:spPr>
        <p:txBody>
          <a:bodyPr anchorCtr="0" anchor="ctr" bIns="487600" lIns="487600" spcFirstLastPara="1" rIns="487600" wrap="square" tIns="487600">
            <a:normAutofit/>
          </a:bodyPr>
          <a:lstStyle>
            <a:lvl1pPr lvl="0" algn="ctr">
              <a:spcBef>
                <a:spcPts val="0"/>
              </a:spcBef>
              <a:spcAft>
                <a:spcPts val="0"/>
              </a:spcAft>
              <a:buSzPts val="19200"/>
              <a:buNone/>
              <a:defRPr sz="19200"/>
            </a:lvl1pPr>
            <a:lvl2pPr lvl="1" algn="ctr">
              <a:spcBef>
                <a:spcPts val="0"/>
              </a:spcBef>
              <a:spcAft>
                <a:spcPts val="0"/>
              </a:spcAft>
              <a:buSzPts val="19200"/>
              <a:buNone/>
              <a:defRPr sz="19200"/>
            </a:lvl2pPr>
            <a:lvl3pPr lvl="2" algn="ctr">
              <a:spcBef>
                <a:spcPts val="0"/>
              </a:spcBef>
              <a:spcAft>
                <a:spcPts val="0"/>
              </a:spcAft>
              <a:buSzPts val="19200"/>
              <a:buNone/>
              <a:defRPr sz="19200"/>
            </a:lvl3pPr>
            <a:lvl4pPr lvl="3" algn="ctr">
              <a:spcBef>
                <a:spcPts val="0"/>
              </a:spcBef>
              <a:spcAft>
                <a:spcPts val="0"/>
              </a:spcAft>
              <a:buSzPts val="19200"/>
              <a:buNone/>
              <a:defRPr sz="19200"/>
            </a:lvl4pPr>
            <a:lvl5pPr lvl="4" algn="ctr">
              <a:spcBef>
                <a:spcPts val="0"/>
              </a:spcBef>
              <a:spcAft>
                <a:spcPts val="0"/>
              </a:spcAft>
              <a:buSzPts val="19200"/>
              <a:buNone/>
              <a:defRPr sz="19200"/>
            </a:lvl5pPr>
            <a:lvl6pPr lvl="5" algn="ctr">
              <a:spcBef>
                <a:spcPts val="0"/>
              </a:spcBef>
              <a:spcAft>
                <a:spcPts val="0"/>
              </a:spcAft>
              <a:buSzPts val="19200"/>
              <a:buNone/>
              <a:defRPr sz="19200"/>
            </a:lvl6pPr>
            <a:lvl7pPr lvl="6" algn="ctr">
              <a:spcBef>
                <a:spcPts val="0"/>
              </a:spcBef>
              <a:spcAft>
                <a:spcPts val="0"/>
              </a:spcAft>
              <a:buSzPts val="19200"/>
              <a:buNone/>
              <a:defRPr sz="19200"/>
            </a:lvl7pPr>
            <a:lvl8pPr lvl="7" algn="ctr">
              <a:spcBef>
                <a:spcPts val="0"/>
              </a:spcBef>
              <a:spcAft>
                <a:spcPts val="0"/>
              </a:spcAft>
              <a:buSzPts val="19200"/>
              <a:buNone/>
              <a:defRPr sz="19200"/>
            </a:lvl8pPr>
            <a:lvl9pPr lvl="8" algn="ctr">
              <a:spcBef>
                <a:spcPts val="0"/>
              </a:spcBef>
              <a:spcAft>
                <a:spcPts val="0"/>
              </a:spcAft>
              <a:buSzPts val="19200"/>
              <a:buNone/>
              <a:defRPr sz="19200"/>
            </a:lvl9pPr>
          </a:lstStyle>
          <a:p/>
        </p:txBody>
      </p:sp>
      <p:sp>
        <p:nvSpPr>
          <p:cNvPr id="15" name="Google Shape;15;p3"/>
          <p:cNvSpPr txBox="1"/>
          <p:nvPr>
            <p:ph idx="12" type="sldNum"/>
          </p:nvPr>
        </p:nvSpPr>
        <p:spPr>
          <a:xfrm>
            <a:off x="40667798" y="52228028"/>
            <a:ext cx="2633700" cy="4408800"/>
          </a:xfrm>
          <a:prstGeom prst="rect">
            <a:avLst/>
          </a:prstGeom>
        </p:spPr>
        <p:txBody>
          <a:bodyPr anchorCtr="0" anchor="ctr" bIns="487600" lIns="487600" spcFirstLastPara="1" rIns="487600" wrap="square" tIns="4876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1496160" y="4984280"/>
            <a:ext cx="40899000" cy="6414600"/>
          </a:xfrm>
          <a:prstGeom prst="rect">
            <a:avLst/>
          </a:prstGeom>
        </p:spPr>
        <p:txBody>
          <a:bodyPr anchorCtr="0" anchor="t" bIns="487600" lIns="487600" spcFirstLastPara="1" rIns="487600" wrap="square" tIns="487600">
            <a:normAutofit/>
          </a:bodyPr>
          <a:lstStyle>
            <a:lvl1pPr lvl="0">
              <a:spcBef>
                <a:spcPts val="0"/>
              </a:spcBef>
              <a:spcAft>
                <a:spcPts val="0"/>
              </a:spcAft>
              <a:buSzPts val="14900"/>
              <a:buNone/>
              <a:defRPr/>
            </a:lvl1pPr>
            <a:lvl2pPr lvl="1">
              <a:spcBef>
                <a:spcPts val="0"/>
              </a:spcBef>
              <a:spcAft>
                <a:spcPts val="0"/>
              </a:spcAft>
              <a:buSzPts val="14900"/>
              <a:buNone/>
              <a:defRPr/>
            </a:lvl2pPr>
            <a:lvl3pPr lvl="2">
              <a:spcBef>
                <a:spcPts val="0"/>
              </a:spcBef>
              <a:spcAft>
                <a:spcPts val="0"/>
              </a:spcAft>
              <a:buSzPts val="14900"/>
              <a:buNone/>
              <a:defRPr/>
            </a:lvl3pPr>
            <a:lvl4pPr lvl="3">
              <a:spcBef>
                <a:spcPts val="0"/>
              </a:spcBef>
              <a:spcAft>
                <a:spcPts val="0"/>
              </a:spcAft>
              <a:buSzPts val="14900"/>
              <a:buNone/>
              <a:defRPr/>
            </a:lvl4pPr>
            <a:lvl5pPr lvl="4">
              <a:spcBef>
                <a:spcPts val="0"/>
              </a:spcBef>
              <a:spcAft>
                <a:spcPts val="0"/>
              </a:spcAft>
              <a:buSzPts val="14900"/>
              <a:buNone/>
              <a:defRPr/>
            </a:lvl5pPr>
            <a:lvl6pPr lvl="5">
              <a:spcBef>
                <a:spcPts val="0"/>
              </a:spcBef>
              <a:spcAft>
                <a:spcPts val="0"/>
              </a:spcAft>
              <a:buSzPts val="14900"/>
              <a:buNone/>
              <a:defRPr/>
            </a:lvl6pPr>
            <a:lvl7pPr lvl="6">
              <a:spcBef>
                <a:spcPts val="0"/>
              </a:spcBef>
              <a:spcAft>
                <a:spcPts val="0"/>
              </a:spcAft>
              <a:buSzPts val="14900"/>
              <a:buNone/>
              <a:defRPr/>
            </a:lvl7pPr>
            <a:lvl8pPr lvl="7">
              <a:spcBef>
                <a:spcPts val="0"/>
              </a:spcBef>
              <a:spcAft>
                <a:spcPts val="0"/>
              </a:spcAft>
              <a:buSzPts val="14900"/>
              <a:buNone/>
              <a:defRPr/>
            </a:lvl8pPr>
            <a:lvl9pPr lvl="8">
              <a:spcBef>
                <a:spcPts val="0"/>
              </a:spcBef>
              <a:spcAft>
                <a:spcPts val="0"/>
              </a:spcAft>
              <a:buSzPts val="14900"/>
              <a:buNone/>
              <a:defRPr/>
            </a:lvl9pPr>
          </a:lstStyle>
          <a:p/>
        </p:txBody>
      </p:sp>
      <p:sp>
        <p:nvSpPr>
          <p:cNvPr id="18" name="Google Shape;18;p4"/>
          <p:cNvSpPr txBox="1"/>
          <p:nvPr>
            <p:ph idx="1" type="body"/>
          </p:nvPr>
        </p:nvSpPr>
        <p:spPr>
          <a:xfrm>
            <a:off x="1496160" y="12907720"/>
            <a:ext cx="40899000" cy="38263800"/>
          </a:xfrm>
          <a:prstGeom prst="rect">
            <a:avLst/>
          </a:prstGeom>
        </p:spPr>
        <p:txBody>
          <a:bodyPr anchorCtr="0" anchor="t" bIns="487600" lIns="487600" spcFirstLastPara="1" rIns="487600" wrap="square" tIns="487600">
            <a:normAutofit/>
          </a:bodyPr>
          <a:lstStyle>
            <a:lvl1pPr indent="-838200" lvl="0" marL="457200">
              <a:spcBef>
                <a:spcPts val="0"/>
              </a:spcBef>
              <a:spcAft>
                <a:spcPts val="0"/>
              </a:spcAft>
              <a:buSzPts val="9600"/>
              <a:buChar char="●"/>
              <a:defRPr/>
            </a:lvl1pPr>
            <a:lvl2pPr indent="-704850" lvl="1" marL="914400">
              <a:spcBef>
                <a:spcPts val="0"/>
              </a:spcBef>
              <a:spcAft>
                <a:spcPts val="0"/>
              </a:spcAft>
              <a:buSzPts val="7500"/>
              <a:buChar char="○"/>
              <a:defRPr/>
            </a:lvl2pPr>
            <a:lvl3pPr indent="-704850" lvl="2" marL="1371600">
              <a:spcBef>
                <a:spcPts val="0"/>
              </a:spcBef>
              <a:spcAft>
                <a:spcPts val="0"/>
              </a:spcAft>
              <a:buSzPts val="7500"/>
              <a:buChar char="■"/>
              <a:defRPr/>
            </a:lvl3pPr>
            <a:lvl4pPr indent="-704850" lvl="3" marL="1828800">
              <a:spcBef>
                <a:spcPts val="0"/>
              </a:spcBef>
              <a:spcAft>
                <a:spcPts val="0"/>
              </a:spcAft>
              <a:buSzPts val="7500"/>
              <a:buChar char="●"/>
              <a:defRPr/>
            </a:lvl4pPr>
            <a:lvl5pPr indent="-704850" lvl="4" marL="2286000">
              <a:spcBef>
                <a:spcPts val="0"/>
              </a:spcBef>
              <a:spcAft>
                <a:spcPts val="0"/>
              </a:spcAft>
              <a:buSzPts val="7500"/>
              <a:buChar char="○"/>
              <a:defRPr/>
            </a:lvl5pPr>
            <a:lvl6pPr indent="-704850" lvl="5" marL="2743200">
              <a:spcBef>
                <a:spcPts val="0"/>
              </a:spcBef>
              <a:spcAft>
                <a:spcPts val="0"/>
              </a:spcAft>
              <a:buSzPts val="7500"/>
              <a:buChar char="■"/>
              <a:defRPr/>
            </a:lvl6pPr>
            <a:lvl7pPr indent="-704850" lvl="6" marL="3200400">
              <a:spcBef>
                <a:spcPts val="0"/>
              </a:spcBef>
              <a:spcAft>
                <a:spcPts val="0"/>
              </a:spcAft>
              <a:buSzPts val="7500"/>
              <a:buChar char="●"/>
              <a:defRPr/>
            </a:lvl7pPr>
            <a:lvl8pPr indent="-704850" lvl="7" marL="3657600">
              <a:spcBef>
                <a:spcPts val="0"/>
              </a:spcBef>
              <a:spcAft>
                <a:spcPts val="0"/>
              </a:spcAft>
              <a:buSzPts val="7500"/>
              <a:buChar char="○"/>
              <a:defRPr/>
            </a:lvl8pPr>
            <a:lvl9pPr indent="-704850" lvl="8" marL="4114800">
              <a:spcBef>
                <a:spcPts val="0"/>
              </a:spcBef>
              <a:spcAft>
                <a:spcPts val="0"/>
              </a:spcAft>
              <a:buSzPts val="7500"/>
              <a:buChar char="■"/>
              <a:defRPr/>
            </a:lvl9pPr>
          </a:lstStyle>
          <a:p/>
        </p:txBody>
      </p:sp>
      <p:sp>
        <p:nvSpPr>
          <p:cNvPr id="19" name="Google Shape;19;p4"/>
          <p:cNvSpPr txBox="1"/>
          <p:nvPr>
            <p:ph idx="12" type="sldNum"/>
          </p:nvPr>
        </p:nvSpPr>
        <p:spPr>
          <a:xfrm>
            <a:off x="40667798" y="52228028"/>
            <a:ext cx="2633700" cy="4408800"/>
          </a:xfrm>
          <a:prstGeom prst="rect">
            <a:avLst/>
          </a:prstGeom>
        </p:spPr>
        <p:txBody>
          <a:bodyPr anchorCtr="0" anchor="ctr" bIns="487600" lIns="487600" spcFirstLastPara="1" rIns="487600" wrap="square" tIns="4876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1496160" y="4984280"/>
            <a:ext cx="40899000" cy="6414600"/>
          </a:xfrm>
          <a:prstGeom prst="rect">
            <a:avLst/>
          </a:prstGeom>
        </p:spPr>
        <p:txBody>
          <a:bodyPr anchorCtr="0" anchor="t" bIns="487600" lIns="487600" spcFirstLastPara="1" rIns="487600" wrap="square" tIns="487600">
            <a:normAutofit/>
          </a:bodyPr>
          <a:lstStyle>
            <a:lvl1pPr lvl="0">
              <a:spcBef>
                <a:spcPts val="0"/>
              </a:spcBef>
              <a:spcAft>
                <a:spcPts val="0"/>
              </a:spcAft>
              <a:buSzPts val="14900"/>
              <a:buNone/>
              <a:defRPr/>
            </a:lvl1pPr>
            <a:lvl2pPr lvl="1">
              <a:spcBef>
                <a:spcPts val="0"/>
              </a:spcBef>
              <a:spcAft>
                <a:spcPts val="0"/>
              </a:spcAft>
              <a:buSzPts val="14900"/>
              <a:buNone/>
              <a:defRPr/>
            </a:lvl2pPr>
            <a:lvl3pPr lvl="2">
              <a:spcBef>
                <a:spcPts val="0"/>
              </a:spcBef>
              <a:spcAft>
                <a:spcPts val="0"/>
              </a:spcAft>
              <a:buSzPts val="14900"/>
              <a:buNone/>
              <a:defRPr/>
            </a:lvl3pPr>
            <a:lvl4pPr lvl="3">
              <a:spcBef>
                <a:spcPts val="0"/>
              </a:spcBef>
              <a:spcAft>
                <a:spcPts val="0"/>
              </a:spcAft>
              <a:buSzPts val="14900"/>
              <a:buNone/>
              <a:defRPr/>
            </a:lvl4pPr>
            <a:lvl5pPr lvl="4">
              <a:spcBef>
                <a:spcPts val="0"/>
              </a:spcBef>
              <a:spcAft>
                <a:spcPts val="0"/>
              </a:spcAft>
              <a:buSzPts val="14900"/>
              <a:buNone/>
              <a:defRPr/>
            </a:lvl5pPr>
            <a:lvl6pPr lvl="5">
              <a:spcBef>
                <a:spcPts val="0"/>
              </a:spcBef>
              <a:spcAft>
                <a:spcPts val="0"/>
              </a:spcAft>
              <a:buSzPts val="14900"/>
              <a:buNone/>
              <a:defRPr/>
            </a:lvl6pPr>
            <a:lvl7pPr lvl="6">
              <a:spcBef>
                <a:spcPts val="0"/>
              </a:spcBef>
              <a:spcAft>
                <a:spcPts val="0"/>
              </a:spcAft>
              <a:buSzPts val="14900"/>
              <a:buNone/>
              <a:defRPr/>
            </a:lvl7pPr>
            <a:lvl8pPr lvl="7">
              <a:spcBef>
                <a:spcPts val="0"/>
              </a:spcBef>
              <a:spcAft>
                <a:spcPts val="0"/>
              </a:spcAft>
              <a:buSzPts val="14900"/>
              <a:buNone/>
              <a:defRPr/>
            </a:lvl8pPr>
            <a:lvl9pPr lvl="8">
              <a:spcBef>
                <a:spcPts val="0"/>
              </a:spcBef>
              <a:spcAft>
                <a:spcPts val="0"/>
              </a:spcAft>
              <a:buSzPts val="14900"/>
              <a:buNone/>
              <a:defRPr/>
            </a:lvl9pPr>
          </a:lstStyle>
          <a:p/>
        </p:txBody>
      </p:sp>
      <p:sp>
        <p:nvSpPr>
          <p:cNvPr id="22" name="Google Shape;22;p5"/>
          <p:cNvSpPr txBox="1"/>
          <p:nvPr>
            <p:ph idx="1" type="body"/>
          </p:nvPr>
        </p:nvSpPr>
        <p:spPr>
          <a:xfrm>
            <a:off x="1496160" y="12907720"/>
            <a:ext cx="19199400" cy="38263800"/>
          </a:xfrm>
          <a:prstGeom prst="rect">
            <a:avLst/>
          </a:prstGeom>
        </p:spPr>
        <p:txBody>
          <a:bodyPr anchorCtr="0" anchor="t" bIns="487600" lIns="487600" spcFirstLastPara="1" rIns="487600" wrap="square" tIns="487600">
            <a:normAutofit/>
          </a:bodyPr>
          <a:lstStyle>
            <a:lvl1pPr indent="-704850" lvl="0" marL="457200">
              <a:spcBef>
                <a:spcPts val="0"/>
              </a:spcBef>
              <a:spcAft>
                <a:spcPts val="0"/>
              </a:spcAft>
              <a:buSzPts val="7500"/>
              <a:buChar char="●"/>
              <a:defRPr sz="7500"/>
            </a:lvl1pPr>
            <a:lvl2pPr indent="-635000" lvl="1" marL="914400">
              <a:spcBef>
                <a:spcPts val="0"/>
              </a:spcBef>
              <a:spcAft>
                <a:spcPts val="0"/>
              </a:spcAft>
              <a:buSzPts val="6400"/>
              <a:buChar char="○"/>
              <a:defRPr sz="6400"/>
            </a:lvl2pPr>
            <a:lvl3pPr indent="-635000" lvl="2" marL="1371600">
              <a:spcBef>
                <a:spcPts val="0"/>
              </a:spcBef>
              <a:spcAft>
                <a:spcPts val="0"/>
              </a:spcAft>
              <a:buSzPts val="6400"/>
              <a:buChar char="■"/>
              <a:defRPr sz="6400"/>
            </a:lvl3pPr>
            <a:lvl4pPr indent="-635000" lvl="3" marL="1828800">
              <a:spcBef>
                <a:spcPts val="0"/>
              </a:spcBef>
              <a:spcAft>
                <a:spcPts val="0"/>
              </a:spcAft>
              <a:buSzPts val="6400"/>
              <a:buChar char="●"/>
              <a:defRPr sz="6400"/>
            </a:lvl4pPr>
            <a:lvl5pPr indent="-635000" lvl="4" marL="2286000">
              <a:spcBef>
                <a:spcPts val="0"/>
              </a:spcBef>
              <a:spcAft>
                <a:spcPts val="0"/>
              </a:spcAft>
              <a:buSzPts val="6400"/>
              <a:buChar char="○"/>
              <a:defRPr sz="6400"/>
            </a:lvl5pPr>
            <a:lvl6pPr indent="-635000" lvl="5" marL="2743200">
              <a:spcBef>
                <a:spcPts val="0"/>
              </a:spcBef>
              <a:spcAft>
                <a:spcPts val="0"/>
              </a:spcAft>
              <a:buSzPts val="6400"/>
              <a:buChar char="■"/>
              <a:defRPr sz="6400"/>
            </a:lvl6pPr>
            <a:lvl7pPr indent="-635000" lvl="6" marL="3200400">
              <a:spcBef>
                <a:spcPts val="0"/>
              </a:spcBef>
              <a:spcAft>
                <a:spcPts val="0"/>
              </a:spcAft>
              <a:buSzPts val="6400"/>
              <a:buChar char="●"/>
              <a:defRPr sz="6400"/>
            </a:lvl7pPr>
            <a:lvl8pPr indent="-635000" lvl="7" marL="3657600">
              <a:spcBef>
                <a:spcPts val="0"/>
              </a:spcBef>
              <a:spcAft>
                <a:spcPts val="0"/>
              </a:spcAft>
              <a:buSzPts val="6400"/>
              <a:buChar char="○"/>
              <a:defRPr sz="6400"/>
            </a:lvl8pPr>
            <a:lvl9pPr indent="-635000" lvl="8" marL="4114800">
              <a:spcBef>
                <a:spcPts val="0"/>
              </a:spcBef>
              <a:spcAft>
                <a:spcPts val="0"/>
              </a:spcAft>
              <a:buSzPts val="6400"/>
              <a:buChar char="■"/>
              <a:defRPr sz="6400"/>
            </a:lvl9pPr>
          </a:lstStyle>
          <a:p/>
        </p:txBody>
      </p:sp>
      <p:sp>
        <p:nvSpPr>
          <p:cNvPr id="23" name="Google Shape;23;p5"/>
          <p:cNvSpPr txBox="1"/>
          <p:nvPr>
            <p:ph idx="2" type="body"/>
          </p:nvPr>
        </p:nvSpPr>
        <p:spPr>
          <a:xfrm>
            <a:off x="23195520" y="12907720"/>
            <a:ext cx="19199400" cy="38263800"/>
          </a:xfrm>
          <a:prstGeom prst="rect">
            <a:avLst/>
          </a:prstGeom>
        </p:spPr>
        <p:txBody>
          <a:bodyPr anchorCtr="0" anchor="t" bIns="487600" lIns="487600" spcFirstLastPara="1" rIns="487600" wrap="square" tIns="487600">
            <a:normAutofit/>
          </a:bodyPr>
          <a:lstStyle>
            <a:lvl1pPr indent="-704850" lvl="0" marL="457200">
              <a:spcBef>
                <a:spcPts val="0"/>
              </a:spcBef>
              <a:spcAft>
                <a:spcPts val="0"/>
              </a:spcAft>
              <a:buSzPts val="7500"/>
              <a:buChar char="●"/>
              <a:defRPr sz="7500"/>
            </a:lvl1pPr>
            <a:lvl2pPr indent="-635000" lvl="1" marL="914400">
              <a:spcBef>
                <a:spcPts val="0"/>
              </a:spcBef>
              <a:spcAft>
                <a:spcPts val="0"/>
              </a:spcAft>
              <a:buSzPts val="6400"/>
              <a:buChar char="○"/>
              <a:defRPr sz="6400"/>
            </a:lvl2pPr>
            <a:lvl3pPr indent="-635000" lvl="2" marL="1371600">
              <a:spcBef>
                <a:spcPts val="0"/>
              </a:spcBef>
              <a:spcAft>
                <a:spcPts val="0"/>
              </a:spcAft>
              <a:buSzPts val="6400"/>
              <a:buChar char="■"/>
              <a:defRPr sz="6400"/>
            </a:lvl3pPr>
            <a:lvl4pPr indent="-635000" lvl="3" marL="1828800">
              <a:spcBef>
                <a:spcPts val="0"/>
              </a:spcBef>
              <a:spcAft>
                <a:spcPts val="0"/>
              </a:spcAft>
              <a:buSzPts val="6400"/>
              <a:buChar char="●"/>
              <a:defRPr sz="6400"/>
            </a:lvl4pPr>
            <a:lvl5pPr indent="-635000" lvl="4" marL="2286000">
              <a:spcBef>
                <a:spcPts val="0"/>
              </a:spcBef>
              <a:spcAft>
                <a:spcPts val="0"/>
              </a:spcAft>
              <a:buSzPts val="6400"/>
              <a:buChar char="○"/>
              <a:defRPr sz="6400"/>
            </a:lvl5pPr>
            <a:lvl6pPr indent="-635000" lvl="5" marL="2743200">
              <a:spcBef>
                <a:spcPts val="0"/>
              </a:spcBef>
              <a:spcAft>
                <a:spcPts val="0"/>
              </a:spcAft>
              <a:buSzPts val="6400"/>
              <a:buChar char="■"/>
              <a:defRPr sz="6400"/>
            </a:lvl6pPr>
            <a:lvl7pPr indent="-635000" lvl="6" marL="3200400">
              <a:spcBef>
                <a:spcPts val="0"/>
              </a:spcBef>
              <a:spcAft>
                <a:spcPts val="0"/>
              </a:spcAft>
              <a:buSzPts val="6400"/>
              <a:buChar char="●"/>
              <a:defRPr sz="6400"/>
            </a:lvl7pPr>
            <a:lvl8pPr indent="-635000" lvl="7" marL="3657600">
              <a:spcBef>
                <a:spcPts val="0"/>
              </a:spcBef>
              <a:spcAft>
                <a:spcPts val="0"/>
              </a:spcAft>
              <a:buSzPts val="6400"/>
              <a:buChar char="○"/>
              <a:defRPr sz="6400"/>
            </a:lvl8pPr>
            <a:lvl9pPr indent="-635000" lvl="8" marL="4114800">
              <a:spcBef>
                <a:spcPts val="0"/>
              </a:spcBef>
              <a:spcAft>
                <a:spcPts val="0"/>
              </a:spcAft>
              <a:buSzPts val="6400"/>
              <a:buChar char="■"/>
              <a:defRPr sz="6400"/>
            </a:lvl9pPr>
          </a:lstStyle>
          <a:p/>
        </p:txBody>
      </p:sp>
      <p:sp>
        <p:nvSpPr>
          <p:cNvPr id="24" name="Google Shape;24;p5"/>
          <p:cNvSpPr txBox="1"/>
          <p:nvPr>
            <p:ph idx="12" type="sldNum"/>
          </p:nvPr>
        </p:nvSpPr>
        <p:spPr>
          <a:xfrm>
            <a:off x="40667798" y="52228028"/>
            <a:ext cx="2633700" cy="4408800"/>
          </a:xfrm>
          <a:prstGeom prst="rect">
            <a:avLst/>
          </a:prstGeom>
        </p:spPr>
        <p:txBody>
          <a:bodyPr anchorCtr="0" anchor="ctr" bIns="487600" lIns="487600" spcFirstLastPara="1" rIns="487600" wrap="square" tIns="4876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1496160" y="4984280"/>
            <a:ext cx="40899000" cy="6414600"/>
          </a:xfrm>
          <a:prstGeom prst="rect">
            <a:avLst/>
          </a:prstGeom>
        </p:spPr>
        <p:txBody>
          <a:bodyPr anchorCtr="0" anchor="t" bIns="487600" lIns="487600" spcFirstLastPara="1" rIns="487600" wrap="square" tIns="487600">
            <a:normAutofit/>
          </a:bodyPr>
          <a:lstStyle>
            <a:lvl1pPr lvl="0">
              <a:spcBef>
                <a:spcPts val="0"/>
              </a:spcBef>
              <a:spcAft>
                <a:spcPts val="0"/>
              </a:spcAft>
              <a:buSzPts val="14900"/>
              <a:buNone/>
              <a:defRPr/>
            </a:lvl1pPr>
            <a:lvl2pPr lvl="1">
              <a:spcBef>
                <a:spcPts val="0"/>
              </a:spcBef>
              <a:spcAft>
                <a:spcPts val="0"/>
              </a:spcAft>
              <a:buSzPts val="14900"/>
              <a:buNone/>
              <a:defRPr/>
            </a:lvl2pPr>
            <a:lvl3pPr lvl="2">
              <a:spcBef>
                <a:spcPts val="0"/>
              </a:spcBef>
              <a:spcAft>
                <a:spcPts val="0"/>
              </a:spcAft>
              <a:buSzPts val="14900"/>
              <a:buNone/>
              <a:defRPr/>
            </a:lvl3pPr>
            <a:lvl4pPr lvl="3">
              <a:spcBef>
                <a:spcPts val="0"/>
              </a:spcBef>
              <a:spcAft>
                <a:spcPts val="0"/>
              </a:spcAft>
              <a:buSzPts val="14900"/>
              <a:buNone/>
              <a:defRPr/>
            </a:lvl4pPr>
            <a:lvl5pPr lvl="4">
              <a:spcBef>
                <a:spcPts val="0"/>
              </a:spcBef>
              <a:spcAft>
                <a:spcPts val="0"/>
              </a:spcAft>
              <a:buSzPts val="14900"/>
              <a:buNone/>
              <a:defRPr/>
            </a:lvl5pPr>
            <a:lvl6pPr lvl="5">
              <a:spcBef>
                <a:spcPts val="0"/>
              </a:spcBef>
              <a:spcAft>
                <a:spcPts val="0"/>
              </a:spcAft>
              <a:buSzPts val="14900"/>
              <a:buNone/>
              <a:defRPr/>
            </a:lvl6pPr>
            <a:lvl7pPr lvl="6">
              <a:spcBef>
                <a:spcPts val="0"/>
              </a:spcBef>
              <a:spcAft>
                <a:spcPts val="0"/>
              </a:spcAft>
              <a:buSzPts val="14900"/>
              <a:buNone/>
              <a:defRPr/>
            </a:lvl7pPr>
            <a:lvl8pPr lvl="7">
              <a:spcBef>
                <a:spcPts val="0"/>
              </a:spcBef>
              <a:spcAft>
                <a:spcPts val="0"/>
              </a:spcAft>
              <a:buSzPts val="14900"/>
              <a:buNone/>
              <a:defRPr/>
            </a:lvl8pPr>
            <a:lvl9pPr lvl="8">
              <a:spcBef>
                <a:spcPts val="0"/>
              </a:spcBef>
              <a:spcAft>
                <a:spcPts val="0"/>
              </a:spcAft>
              <a:buSzPts val="14900"/>
              <a:buNone/>
              <a:defRPr/>
            </a:lvl9pPr>
          </a:lstStyle>
          <a:p/>
        </p:txBody>
      </p:sp>
      <p:sp>
        <p:nvSpPr>
          <p:cNvPr id="27" name="Google Shape;27;p6"/>
          <p:cNvSpPr txBox="1"/>
          <p:nvPr>
            <p:ph idx="12" type="sldNum"/>
          </p:nvPr>
        </p:nvSpPr>
        <p:spPr>
          <a:xfrm>
            <a:off x="40667798" y="52228028"/>
            <a:ext cx="2633700" cy="4408800"/>
          </a:xfrm>
          <a:prstGeom prst="rect">
            <a:avLst/>
          </a:prstGeom>
        </p:spPr>
        <p:txBody>
          <a:bodyPr anchorCtr="0" anchor="ctr" bIns="487600" lIns="487600" spcFirstLastPara="1" rIns="487600" wrap="square" tIns="4876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1496160" y="6222720"/>
            <a:ext cx="13478400" cy="8464200"/>
          </a:xfrm>
          <a:prstGeom prst="rect">
            <a:avLst/>
          </a:prstGeom>
        </p:spPr>
        <p:txBody>
          <a:bodyPr anchorCtr="0" anchor="b" bIns="487600" lIns="487600" spcFirstLastPara="1" rIns="487600" wrap="square" tIns="487600">
            <a:normAutofit/>
          </a:bodyPr>
          <a:lstStyle>
            <a:lvl1pPr lvl="0">
              <a:spcBef>
                <a:spcPts val="0"/>
              </a:spcBef>
              <a:spcAft>
                <a:spcPts val="0"/>
              </a:spcAft>
              <a:buSzPts val="12800"/>
              <a:buNone/>
              <a:defRPr sz="12800"/>
            </a:lvl1pPr>
            <a:lvl2pPr lvl="1">
              <a:spcBef>
                <a:spcPts val="0"/>
              </a:spcBef>
              <a:spcAft>
                <a:spcPts val="0"/>
              </a:spcAft>
              <a:buSzPts val="12800"/>
              <a:buNone/>
              <a:defRPr sz="12800"/>
            </a:lvl2pPr>
            <a:lvl3pPr lvl="2">
              <a:spcBef>
                <a:spcPts val="0"/>
              </a:spcBef>
              <a:spcAft>
                <a:spcPts val="0"/>
              </a:spcAft>
              <a:buSzPts val="12800"/>
              <a:buNone/>
              <a:defRPr sz="12800"/>
            </a:lvl3pPr>
            <a:lvl4pPr lvl="3">
              <a:spcBef>
                <a:spcPts val="0"/>
              </a:spcBef>
              <a:spcAft>
                <a:spcPts val="0"/>
              </a:spcAft>
              <a:buSzPts val="12800"/>
              <a:buNone/>
              <a:defRPr sz="12800"/>
            </a:lvl4pPr>
            <a:lvl5pPr lvl="4">
              <a:spcBef>
                <a:spcPts val="0"/>
              </a:spcBef>
              <a:spcAft>
                <a:spcPts val="0"/>
              </a:spcAft>
              <a:buSzPts val="12800"/>
              <a:buNone/>
              <a:defRPr sz="12800"/>
            </a:lvl5pPr>
            <a:lvl6pPr lvl="5">
              <a:spcBef>
                <a:spcPts val="0"/>
              </a:spcBef>
              <a:spcAft>
                <a:spcPts val="0"/>
              </a:spcAft>
              <a:buSzPts val="12800"/>
              <a:buNone/>
              <a:defRPr sz="12800"/>
            </a:lvl6pPr>
            <a:lvl7pPr lvl="6">
              <a:spcBef>
                <a:spcPts val="0"/>
              </a:spcBef>
              <a:spcAft>
                <a:spcPts val="0"/>
              </a:spcAft>
              <a:buSzPts val="12800"/>
              <a:buNone/>
              <a:defRPr sz="12800"/>
            </a:lvl7pPr>
            <a:lvl8pPr lvl="7">
              <a:spcBef>
                <a:spcPts val="0"/>
              </a:spcBef>
              <a:spcAft>
                <a:spcPts val="0"/>
              </a:spcAft>
              <a:buSzPts val="12800"/>
              <a:buNone/>
              <a:defRPr sz="12800"/>
            </a:lvl8pPr>
            <a:lvl9pPr lvl="8">
              <a:spcBef>
                <a:spcPts val="0"/>
              </a:spcBef>
              <a:spcAft>
                <a:spcPts val="0"/>
              </a:spcAft>
              <a:buSzPts val="12800"/>
              <a:buNone/>
              <a:defRPr sz="12800"/>
            </a:lvl9pPr>
          </a:lstStyle>
          <a:p/>
        </p:txBody>
      </p:sp>
      <p:sp>
        <p:nvSpPr>
          <p:cNvPr id="30" name="Google Shape;30;p7"/>
          <p:cNvSpPr txBox="1"/>
          <p:nvPr>
            <p:ph idx="1" type="body"/>
          </p:nvPr>
        </p:nvSpPr>
        <p:spPr>
          <a:xfrm>
            <a:off x="1496160" y="15563520"/>
            <a:ext cx="13478400" cy="35609400"/>
          </a:xfrm>
          <a:prstGeom prst="rect">
            <a:avLst/>
          </a:prstGeom>
        </p:spPr>
        <p:txBody>
          <a:bodyPr anchorCtr="0" anchor="t" bIns="487600" lIns="487600" spcFirstLastPara="1" rIns="487600" wrap="square" tIns="487600">
            <a:normAutofit/>
          </a:bodyPr>
          <a:lstStyle>
            <a:lvl1pPr indent="-635000" lvl="0" marL="457200">
              <a:spcBef>
                <a:spcPts val="0"/>
              </a:spcBef>
              <a:spcAft>
                <a:spcPts val="0"/>
              </a:spcAft>
              <a:buSzPts val="6400"/>
              <a:buChar char="●"/>
              <a:defRPr sz="6400"/>
            </a:lvl1pPr>
            <a:lvl2pPr indent="-635000" lvl="1" marL="914400">
              <a:spcBef>
                <a:spcPts val="0"/>
              </a:spcBef>
              <a:spcAft>
                <a:spcPts val="0"/>
              </a:spcAft>
              <a:buSzPts val="6400"/>
              <a:buChar char="○"/>
              <a:defRPr sz="6400"/>
            </a:lvl2pPr>
            <a:lvl3pPr indent="-635000" lvl="2" marL="1371600">
              <a:spcBef>
                <a:spcPts val="0"/>
              </a:spcBef>
              <a:spcAft>
                <a:spcPts val="0"/>
              </a:spcAft>
              <a:buSzPts val="6400"/>
              <a:buChar char="■"/>
              <a:defRPr sz="6400"/>
            </a:lvl3pPr>
            <a:lvl4pPr indent="-635000" lvl="3" marL="1828800">
              <a:spcBef>
                <a:spcPts val="0"/>
              </a:spcBef>
              <a:spcAft>
                <a:spcPts val="0"/>
              </a:spcAft>
              <a:buSzPts val="6400"/>
              <a:buChar char="●"/>
              <a:defRPr sz="6400"/>
            </a:lvl4pPr>
            <a:lvl5pPr indent="-635000" lvl="4" marL="2286000">
              <a:spcBef>
                <a:spcPts val="0"/>
              </a:spcBef>
              <a:spcAft>
                <a:spcPts val="0"/>
              </a:spcAft>
              <a:buSzPts val="6400"/>
              <a:buChar char="○"/>
              <a:defRPr sz="6400"/>
            </a:lvl5pPr>
            <a:lvl6pPr indent="-635000" lvl="5" marL="2743200">
              <a:spcBef>
                <a:spcPts val="0"/>
              </a:spcBef>
              <a:spcAft>
                <a:spcPts val="0"/>
              </a:spcAft>
              <a:buSzPts val="6400"/>
              <a:buChar char="■"/>
              <a:defRPr sz="6400"/>
            </a:lvl6pPr>
            <a:lvl7pPr indent="-635000" lvl="6" marL="3200400">
              <a:spcBef>
                <a:spcPts val="0"/>
              </a:spcBef>
              <a:spcAft>
                <a:spcPts val="0"/>
              </a:spcAft>
              <a:buSzPts val="6400"/>
              <a:buChar char="●"/>
              <a:defRPr sz="6400"/>
            </a:lvl7pPr>
            <a:lvl8pPr indent="-635000" lvl="7" marL="3657600">
              <a:spcBef>
                <a:spcPts val="0"/>
              </a:spcBef>
              <a:spcAft>
                <a:spcPts val="0"/>
              </a:spcAft>
              <a:buSzPts val="6400"/>
              <a:buChar char="○"/>
              <a:defRPr sz="6400"/>
            </a:lvl8pPr>
            <a:lvl9pPr indent="-635000" lvl="8" marL="4114800">
              <a:spcBef>
                <a:spcPts val="0"/>
              </a:spcBef>
              <a:spcAft>
                <a:spcPts val="0"/>
              </a:spcAft>
              <a:buSzPts val="6400"/>
              <a:buChar char="■"/>
              <a:defRPr sz="6400"/>
            </a:lvl9pPr>
          </a:lstStyle>
          <a:p/>
        </p:txBody>
      </p:sp>
      <p:sp>
        <p:nvSpPr>
          <p:cNvPr id="31" name="Google Shape;31;p7"/>
          <p:cNvSpPr txBox="1"/>
          <p:nvPr>
            <p:ph idx="12" type="sldNum"/>
          </p:nvPr>
        </p:nvSpPr>
        <p:spPr>
          <a:xfrm>
            <a:off x="40667798" y="52228028"/>
            <a:ext cx="2633700" cy="4408800"/>
          </a:xfrm>
          <a:prstGeom prst="rect">
            <a:avLst/>
          </a:prstGeom>
        </p:spPr>
        <p:txBody>
          <a:bodyPr anchorCtr="0" anchor="ctr" bIns="487600" lIns="487600" spcFirstLastPara="1" rIns="487600" wrap="square" tIns="4876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2353200" y="5041680"/>
            <a:ext cx="30565500" cy="45816900"/>
          </a:xfrm>
          <a:prstGeom prst="rect">
            <a:avLst/>
          </a:prstGeom>
        </p:spPr>
        <p:txBody>
          <a:bodyPr anchorCtr="0" anchor="ctr" bIns="487600" lIns="487600" spcFirstLastPara="1" rIns="487600" wrap="square" tIns="487600">
            <a:normAutofit/>
          </a:bodyPr>
          <a:lstStyle>
            <a:lvl1pPr lvl="0">
              <a:spcBef>
                <a:spcPts val="0"/>
              </a:spcBef>
              <a:spcAft>
                <a:spcPts val="0"/>
              </a:spcAft>
              <a:buSzPts val="25600"/>
              <a:buNone/>
              <a:defRPr sz="25600"/>
            </a:lvl1pPr>
            <a:lvl2pPr lvl="1">
              <a:spcBef>
                <a:spcPts val="0"/>
              </a:spcBef>
              <a:spcAft>
                <a:spcPts val="0"/>
              </a:spcAft>
              <a:buSzPts val="25600"/>
              <a:buNone/>
              <a:defRPr sz="25600"/>
            </a:lvl2pPr>
            <a:lvl3pPr lvl="2">
              <a:spcBef>
                <a:spcPts val="0"/>
              </a:spcBef>
              <a:spcAft>
                <a:spcPts val="0"/>
              </a:spcAft>
              <a:buSzPts val="25600"/>
              <a:buNone/>
              <a:defRPr sz="25600"/>
            </a:lvl3pPr>
            <a:lvl4pPr lvl="3">
              <a:spcBef>
                <a:spcPts val="0"/>
              </a:spcBef>
              <a:spcAft>
                <a:spcPts val="0"/>
              </a:spcAft>
              <a:buSzPts val="25600"/>
              <a:buNone/>
              <a:defRPr sz="25600"/>
            </a:lvl4pPr>
            <a:lvl5pPr lvl="4">
              <a:spcBef>
                <a:spcPts val="0"/>
              </a:spcBef>
              <a:spcAft>
                <a:spcPts val="0"/>
              </a:spcAft>
              <a:buSzPts val="25600"/>
              <a:buNone/>
              <a:defRPr sz="25600"/>
            </a:lvl5pPr>
            <a:lvl6pPr lvl="5">
              <a:spcBef>
                <a:spcPts val="0"/>
              </a:spcBef>
              <a:spcAft>
                <a:spcPts val="0"/>
              </a:spcAft>
              <a:buSzPts val="25600"/>
              <a:buNone/>
              <a:defRPr sz="25600"/>
            </a:lvl6pPr>
            <a:lvl7pPr lvl="6">
              <a:spcBef>
                <a:spcPts val="0"/>
              </a:spcBef>
              <a:spcAft>
                <a:spcPts val="0"/>
              </a:spcAft>
              <a:buSzPts val="25600"/>
              <a:buNone/>
              <a:defRPr sz="25600"/>
            </a:lvl7pPr>
            <a:lvl8pPr lvl="7">
              <a:spcBef>
                <a:spcPts val="0"/>
              </a:spcBef>
              <a:spcAft>
                <a:spcPts val="0"/>
              </a:spcAft>
              <a:buSzPts val="25600"/>
              <a:buNone/>
              <a:defRPr sz="25600"/>
            </a:lvl8pPr>
            <a:lvl9pPr lvl="8">
              <a:spcBef>
                <a:spcPts val="0"/>
              </a:spcBef>
              <a:spcAft>
                <a:spcPts val="0"/>
              </a:spcAft>
              <a:buSzPts val="25600"/>
              <a:buNone/>
              <a:defRPr sz="25600"/>
            </a:lvl9pPr>
          </a:lstStyle>
          <a:p/>
        </p:txBody>
      </p:sp>
      <p:sp>
        <p:nvSpPr>
          <p:cNvPr id="34" name="Google Shape;34;p8"/>
          <p:cNvSpPr txBox="1"/>
          <p:nvPr>
            <p:ph idx="12" type="sldNum"/>
          </p:nvPr>
        </p:nvSpPr>
        <p:spPr>
          <a:xfrm>
            <a:off x="40667798" y="52228028"/>
            <a:ext cx="2633700" cy="4408800"/>
          </a:xfrm>
          <a:prstGeom prst="rect">
            <a:avLst/>
          </a:prstGeom>
        </p:spPr>
        <p:txBody>
          <a:bodyPr anchorCtr="0" anchor="ctr" bIns="487600" lIns="487600" spcFirstLastPara="1" rIns="487600" wrap="square" tIns="4876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21945600" y="-1400"/>
            <a:ext cx="21945600" cy="57607200"/>
          </a:xfrm>
          <a:prstGeom prst="rect">
            <a:avLst/>
          </a:prstGeom>
          <a:solidFill>
            <a:schemeClr val="lt2"/>
          </a:solidFill>
          <a:ln>
            <a:noFill/>
          </a:ln>
        </p:spPr>
        <p:txBody>
          <a:bodyPr anchorCtr="0" anchor="ctr" bIns="487600" lIns="487600" spcFirstLastPara="1" rIns="487600" wrap="square" tIns="487600">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1274400" y="13811560"/>
            <a:ext cx="19416900" cy="16601700"/>
          </a:xfrm>
          <a:prstGeom prst="rect">
            <a:avLst/>
          </a:prstGeom>
        </p:spPr>
        <p:txBody>
          <a:bodyPr anchorCtr="0" anchor="b" bIns="487600" lIns="487600" spcFirstLastPara="1" rIns="487600" wrap="square" tIns="487600">
            <a:normAutofit/>
          </a:bodyPr>
          <a:lstStyle>
            <a:lvl1pPr lvl="0" algn="ctr">
              <a:spcBef>
                <a:spcPts val="0"/>
              </a:spcBef>
              <a:spcAft>
                <a:spcPts val="0"/>
              </a:spcAft>
              <a:buSzPts val="22400"/>
              <a:buNone/>
              <a:defRPr sz="22400"/>
            </a:lvl1pPr>
            <a:lvl2pPr lvl="1" algn="ctr">
              <a:spcBef>
                <a:spcPts val="0"/>
              </a:spcBef>
              <a:spcAft>
                <a:spcPts val="0"/>
              </a:spcAft>
              <a:buSzPts val="22400"/>
              <a:buNone/>
              <a:defRPr sz="22400"/>
            </a:lvl2pPr>
            <a:lvl3pPr lvl="2" algn="ctr">
              <a:spcBef>
                <a:spcPts val="0"/>
              </a:spcBef>
              <a:spcAft>
                <a:spcPts val="0"/>
              </a:spcAft>
              <a:buSzPts val="22400"/>
              <a:buNone/>
              <a:defRPr sz="22400"/>
            </a:lvl3pPr>
            <a:lvl4pPr lvl="3" algn="ctr">
              <a:spcBef>
                <a:spcPts val="0"/>
              </a:spcBef>
              <a:spcAft>
                <a:spcPts val="0"/>
              </a:spcAft>
              <a:buSzPts val="22400"/>
              <a:buNone/>
              <a:defRPr sz="22400"/>
            </a:lvl4pPr>
            <a:lvl5pPr lvl="4" algn="ctr">
              <a:spcBef>
                <a:spcPts val="0"/>
              </a:spcBef>
              <a:spcAft>
                <a:spcPts val="0"/>
              </a:spcAft>
              <a:buSzPts val="22400"/>
              <a:buNone/>
              <a:defRPr sz="22400"/>
            </a:lvl5pPr>
            <a:lvl6pPr lvl="5" algn="ctr">
              <a:spcBef>
                <a:spcPts val="0"/>
              </a:spcBef>
              <a:spcAft>
                <a:spcPts val="0"/>
              </a:spcAft>
              <a:buSzPts val="22400"/>
              <a:buNone/>
              <a:defRPr sz="22400"/>
            </a:lvl6pPr>
            <a:lvl7pPr lvl="6" algn="ctr">
              <a:spcBef>
                <a:spcPts val="0"/>
              </a:spcBef>
              <a:spcAft>
                <a:spcPts val="0"/>
              </a:spcAft>
              <a:buSzPts val="22400"/>
              <a:buNone/>
              <a:defRPr sz="22400"/>
            </a:lvl7pPr>
            <a:lvl8pPr lvl="7" algn="ctr">
              <a:spcBef>
                <a:spcPts val="0"/>
              </a:spcBef>
              <a:spcAft>
                <a:spcPts val="0"/>
              </a:spcAft>
              <a:buSzPts val="22400"/>
              <a:buNone/>
              <a:defRPr sz="22400"/>
            </a:lvl8pPr>
            <a:lvl9pPr lvl="8" algn="ctr">
              <a:spcBef>
                <a:spcPts val="0"/>
              </a:spcBef>
              <a:spcAft>
                <a:spcPts val="0"/>
              </a:spcAft>
              <a:buSzPts val="22400"/>
              <a:buNone/>
              <a:defRPr sz="22400"/>
            </a:lvl9pPr>
          </a:lstStyle>
          <a:p/>
        </p:txBody>
      </p:sp>
      <p:sp>
        <p:nvSpPr>
          <p:cNvPr id="38" name="Google Shape;38;p9"/>
          <p:cNvSpPr txBox="1"/>
          <p:nvPr>
            <p:ph idx="1" type="subTitle"/>
          </p:nvPr>
        </p:nvSpPr>
        <p:spPr>
          <a:xfrm>
            <a:off x="1274400" y="31394440"/>
            <a:ext cx="19416900" cy="13833600"/>
          </a:xfrm>
          <a:prstGeom prst="rect">
            <a:avLst/>
          </a:prstGeom>
        </p:spPr>
        <p:txBody>
          <a:bodyPr anchorCtr="0" anchor="t" bIns="487600" lIns="487600" spcFirstLastPara="1" rIns="487600" wrap="square" tIns="487600">
            <a:normAutofit/>
          </a:bodyPr>
          <a:lstStyle>
            <a:lvl1pPr lvl="0" algn="ctr">
              <a:lnSpc>
                <a:spcPct val="100000"/>
              </a:lnSpc>
              <a:spcBef>
                <a:spcPts val="0"/>
              </a:spcBef>
              <a:spcAft>
                <a:spcPts val="0"/>
              </a:spcAft>
              <a:buSzPts val="11200"/>
              <a:buNone/>
              <a:defRPr sz="11200"/>
            </a:lvl1pPr>
            <a:lvl2pPr lvl="1" algn="ctr">
              <a:lnSpc>
                <a:spcPct val="100000"/>
              </a:lnSpc>
              <a:spcBef>
                <a:spcPts val="0"/>
              </a:spcBef>
              <a:spcAft>
                <a:spcPts val="0"/>
              </a:spcAft>
              <a:buSzPts val="11200"/>
              <a:buNone/>
              <a:defRPr sz="11200"/>
            </a:lvl2pPr>
            <a:lvl3pPr lvl="2" algn="ctr">
              <a:lnSpc>
                <a:spcPct val="100000"/>
              </a:lnSpc>
              <a:spcBef>
                <a:spcPts val="0"/>
              </a:spcBef>
              <a:spcAft>
                <a:spcPts val="0"/>
              </a:spcAft>
              <a:buSzPts val="11200"/>
              <a:buNone/>
              <a:defRPr sz="11200"/>
            </a:lvl3pPr>
            <a:lvl4pPr lvl="3" algn="ctr">
              <a:lnSpc>
                <a:spcPct val="100000"/>
              </a:lnSpc>
              <a:spcBef>
                <a:spcPts val="0"/>
              </a:spcBef>
              <a:spcAft>
                <a:spcPts val="0"/>
              </a:spcAft>
              <a:buSzPts val="11200"/>
              <a:buNone/>
              <a:defRPr sz="11200"/>
            </a:lvl4pPr>
            <a:lvl5pPr lvl="4" algn="ctr">
              <a:lnSpc>
                <a:spcPct val="100000"/>
              </a:lnSpc>
              <a:spcBef>
                <a:spcPts val="0"/>
              </a:spcBef>
              <a:spcAft>
                <a:spcPts val="0"/>
              </a:spcAft>
              <a:buSzPts val="11200"/>
              <a:buNone/>
              <a:defRPr sz="11200"/>
            </a:lvl5pPr>
            <a:lvl6pPr lvl="5" algn="ctr">
              <a:lnSpc>
                <a:spcPct val="100000"/>
              </a:lnSpc>
              <a:spcBef>
                <a:spcPts val="0"/>
              </a:spcBef>
              <a:spcAft>
                <a:spcPts val="0"/>
              </a:spcAft>
              <a:buSzPts val="11200"/>
              <a:buNone/>
              <a:defRPr sz="11200"/>
            </a:lvl6pPr>
            <a:lvl7pPr lvl="6" algn="ctr">
              <a:lnSpc>
                <a:spcPct val="100000"/>
              </a:lnSpc>
              <a:spcBef>
                <a:spcPts val="0"/>
              </a:spcBef>
              <a:spcAft>
                <a:spcPts val="0"/>
              </a:spcAft>
              <a:buSzPts val="11200"/>
              <a:buNone/>
              <a:defRPr sz="11200"/>
            </a:lvl7pPr>
            <a:lvl8pPr lvl="7" algn="ctr">
              <a:lnSpc>
                <a:spcPct val="100000"/>
              </a:lnSpc>
              <a:spcBef>
                <a:spcPts val="0"/>
              </a:spcBef>
              <a:spcAft>
                <a:spcPts val="0"/>
              </a:spcAft>
              <a:buSzPts val="11200"/>
              <a:buNone/>
              <a:defRPr sz="11200"/>
            </a:lvl8pPr>
            <a:lvl9pPr lvl="8" algn="ctr">
              <a:lnSpc>
                <a:spcPct val="100000"/>
              </a:lnSpc>
              <a:spcBef>
                <a:spcPts val="0"/>
              </a:spcBef>
              <a:spcAft>
                <a:spcPts val="0"/>
              </a:spcAft>
              <a:buSzPts val="11200"/>
              <a:buNone/>
              <a:defRPr sz="11200"/>
            </a:lvl9pPr>
          </a:lstStyle>
          <a:p/>
        </p:txBody>
      </p:sp>
      <p:sp>
        <p:nvSpPr>
          <p:cNvPr id="39" name="Google Shape;39;p9"/>
          <p:cNvSpPr txBox="1"/>
          <p:nvPr>
            <p:ph idx="2" type="body"/>
          </p:nvPr>
        </p:nvSpPr>
        <p:spPr>
          <a:xfrm>
            <a:off x="23709600" y="8109640"/>
            <a:ext cx="18417600" cy="41385600"/>
          </a:xfrm>
          <a:prstGeom prst="rect">
            <a:avLst/>
          </a:prstGeom>
        </p:spPr>
        <p:txBody>
          <a:bodyPr anchorCtr="0" anchor="ctr" bIns="487600" lIns="487600" spcFirstLastPara="1" rIns="487600" wrap="square" tIns="487600">
            <a:normAutofit/>
          </a:bodyPr>
          <a:lstStyle>
            <a:lvl1pPr indent="-838200" lvl="0" marL="457200">
              <a:spcBef>
                <a:spcPts val="0"/>
              </a:spcBef>
              <a:spcAft>
                <a:spcPts val="0"/>
              </a:spcAft>
              <a:buSzPts val="9600"/>
              <a:buChar char="●"/>
              <a:defRPr/>
            </a:lvl1pPr>
            <a:lvl2pPr indent="-704850" lvl="1" marL="914400">
              <a:spcBef>
                <a:spcPts val="0"/>
              </a:spcBef>
              <a:spcAft>
                <a:spcPts val="0"/>
              </a:spcAft>
              <a:buSzPts val="7500"/>
              <a:buChar char="○"/>
              <a:defRPr/>
            </a:lvl2pPr>
            <a:lvl3pPr indent="-704850" lvl="2" marL="1371600">
              <a:spcBef>
                <a:spcPts val="0"/>
              </a:spcBef>
              <a:spcAft>
                <a:spcPts val="0"/>
              </a:spcAft>
              <a:buSzPts val="7500"/>
              <a:buChar char="■"/>
              <a:defRPr/>
            </a:lvl3pPr>
            <a:lvl4pPr indent="-704850" lvl="3" marL="1828800">
              <a:spcBef>
                <a:spcPts val="0"/>
              </a:spcBef>
              <a:spcAft>
                <a:spcPts val="0"/>
              </a:spcAft>
              <a:buSzPts val="7500"/>
              <a:buChar char="●"/>
              <a:defRPr/>
            </a:lvl4pPr>
            <a:lvl5pPr indent="-704850" lvl="4" marL="2286000">
              <a:spcBef>
                <a:spcPts val="0"/>
              </a:spcBef>
              <a:spcAft>
                <a:spcPts val="0"/>
              </a:spcAft>
              <a:buSzPts val="7500"/>
              <a:buChar char="○"/>
              <a:defRPr/>
            </a:lvl5pPr>
            <a:lvl6pPr indent="-704850" lvl="5" marL="2743200">
              <a:spcBef>
                <a:spcPts val="0"/>
              </a:spcBef>
              <a:spcAft>
                <a:spcPts val="0"/>
              </a:spcAft>
              <a:buSzPts val="7500"/>
              <a:buChar char="■"/>
              <a:defRPr/>
            </a:lvl6pPr>
            <a:lvl7pPr indent="-704850" lvl="6" marL="3200400">
              <a:spcBef>
                <a:spcPts val="0"/>
              </a:spcBef>
              <a:spcAft>
                <a:spcPts val="0"/>
              </a:spcAft>
              <a:buSzPts val="7500"/>
              <a:buChar char="●"/>
              <a:defRPr/>
            </a:lvl7pPr>
            <a:lvl8pPr indent="-704850" lvl="7" marL="3657600">
              <a:spcBef>
                <a:spcPts val="0"/>
              </a:spcBef>
              <a:spcAft>
                <a:spcPts val="0"/>
              </a:spcAft>
              <a:buSzPts val="7500"/>
              <a:buChar char="○"/>
              <a:defRPr/>
            </a:lvl8pPr>
            <a:lvl9pPr indent="-704850" lvl="8" marL="4114800">
              <a:spcBef>
                <a:spcPts val="0"/>
              </a:spcBef>
              <a:spcAft>
                <a:spcPts val="0"/>
              </a:spcAft>
              <a:buSzPts val="7500"/>
              <a:buChar char="■"/>
              <a:defRPr/>
            </a:lvl9pPr>
          </a:lstStyle>
          <a:p/>
        </p:txBody>
      </p:sp>
      <p:sp>
        <p:nvSpPr>
          <p:cNvPr id="40" name="Google Shape;40;p9"/>
          <p:cNvSpPr txBox="1"/>
          <p:nvPr>
            <p:ph idx="12" type="sldNum"/>
          </p:nvPr>
        </p:nvSpPr>
        <p:spPr>
          <a:xfrm>
            <a:off x="40667798" y="52228028"/>
            <a:ext cx="2633700" cy="4408800"/>
          </a:xfrm>
          <a:prstGeom prst="rect">
            <a:avLst/>
          </a:prstGeom>
        </p:spPr>
        <p:txBody>
          <a:bodyPr anchorCtr="0" anchor="ctr" bIns="487600" lIns="487600" spcFirstLastPara="1" rIns="487600" wrap="square" tIns="4876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1496160" y="47382440"/>
            <a:ext cx="28794300" cy="6777600"/>
          </a:xfrm>
          <a:prstGeom prst="rect">
            <a:avLst/>
          </a:prstGeom>
        </p:spPr>
        <p:txBody>
          <a:bodyPr anchorCtr="0" anchor="ctr" bIns="487600" lIns="487600" spcFirstLastPara="1" rIns="487600" wrap="square" tIns="487600">
            <a:normAutofit/>
          </a:bodyPr>
          <a:lstStyle>
            <a:lvl1pPr indent="-228600" lvl="0" marL="457200">
              <a:lnSpc>
                <a:spcPct val="100000"/>
              </a:lnSpc>
              <a:spcBef>
                <a:spcPts val="0"/>
              </a:spcBef>
              <a:spcAft>
                <a:spcPts val="0"/>
              </a:spcAft>
              <a:buSzPts val="9600"/>
              <a:buNone/>
              <a:defRPr/>
            </a:lvl1pPr>
          </a:lstStyle>
          <a:p/>
        </p:txBody>
      </p:sp>
      <p:sp>
        <p:nvSpPr>
          <p:cNvPr id="43" name="Google Shape;43;p10"/>
          <p:cNvSpPr txBox="1"/>
          <p:nvPr>
            <p:ph idx="12" type="sldNum"/>
          </p:nvPr>
        </p:nvSpPr>
        <p:spPr>
          <a:xfrm>
            <a:off x="40667798" y="52228028"/>
            <a:ext cx="2633700" cy="4408800"/>
          </a:xfrm>
          <a:prstGeom prst="rect">
            <a:avLst/>
          </a:prstGeom>
        </p:spPr>
        <p:txBody>
          <a:bodyPr anchorCtr="0" anchor="ctr" bIns="487600" lIns="487600" spcFirstLastPara="1" rIns="487600" wrap="square" tIns="4876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1496160" y="12388600"/>
            <a:ext cx="40899000" cy="21991200"/>
          </a:xfrm>
          <a:prstGeom prst="rect">
            <a:avLst/>
          </a:prstGeom>
        </p:spPr>
        <p:txBody>
          <a:bodyPr anchorCtr="0" anchor="b" bIns="487600" lIns="487600" spcFirstLastPara="1" rIns="487600" wrap="square" tIns="487600">
            <a:normAutofit/>
          </a:bodyPr>
          <a:lstStyle>
            <a:lvl1pPr lvl="0" algn="ctr">
              <a:spcBef>
                <a:spcPts val="0"/>
              </a:spcBef>
              <a:spcAft>
                <a:spcPts val="0"/>
              </a:spcAft>
              <a:buSzPts val="64000"/>
              <a:buNone/>
              <a:defRPr sz="64000"/>
            </a:lvl1pPr>
            <a:lvl2pPr lvl="1" algn="ctr">
              <a:spcBef>
                <a:spcPts val="0"/>
              </a:spcBef>
              <a:spcAft>
                <a:spcPts val="0"/>
              </a:spcAft>
              <a:buSzPts val="64000"/>
              <a:buNone/>
              <a:defRPr sz="64000"/>
            </a:lvl2pPr>
            <a:lvl3pPr lvl="2" algn="ctr">
              <a:spcBef>
                <a:spcPts val="0"/>
              </a:spcBef>
              <a:spcAft>
                <a:spcPts val="0"/>
              </a:spcAft>
              <a:buSzPts val="64000"/>
              <a:buNone/>
              <a:defRPr sz="64000"/>
            </a:lvl3pPr>
            <a:lvl4pPr lvl="3" algn="ctr">
              <a:spcBef>
                <a:spcPts val="0"/>
              </a:spcBef>
              <a:spcAft>
                <a:spcPts val="0"/>
              </a:spcAft>
              <a:buSzPts val="64000"/>
              <a:buNone/>
              <a:defRPr sz="64000"/>
            </a:lvl4pPr>
            <a:lvl5pPr lvl="4" algn="ctr">
              <a:spcBef>
                <a:spcPts val="0"/>
              </a:spcBef>
              <a:spcAft>
                <a:spcPts val="0"/>
              </a:spcAft>
              <a:buSzPts val="64000"/>
              <a:buNone/>
              <a:defRPr sz="64000"/>
            </a:lvl5pPr>
            <a:lvl6pPr lvl="5" algn="ctr">
              <a:spcBef>
                <a:spcPts val="0"/>
              </a:spcBef>
              <a:spcAft>
                <a:spcPts val="0"/>
              </a:spcAft>
              <a:buSzPts val="64000"/>
              <a:buNone/>
              <a:defRPr sz="64000"/>
            </a:lvl6pPr>
            <a:lvl7pPr lvl="6" algn="ctr">
              <a:spcBef>
                <a:spcPts val="0"/>
              </a:spcBef>
              <a:spcAft>
                <a:spcPts val="0"/>
              </a:spcAft>
              <a:buSzPts val="64000"/>
              <a:buNone/>
              <a:defRPr sz="64000"/>
            </a:lvl7pPr>
            <a:lvl8pPr lvl="7" algn="ctr">
              <a:spcBef>
                <a:spcPts val="0"/>
              </a:spcBef>
              <a:spcAft>
                <a:spcPts val="0"/>
              </a:spcAft>
              <a:buSzPts val="64000"/>
              <a:buNone/>
              <a:defRPr sz="64000"/>
            </a:lvl8pPr>
            <a:lvl9pPr lvl="8" algn="ctr">
              <a:spcBef>
                <a:spcPts val="0"/>
              </a:spcBef>
              <a:spcAft>
                <a:spcPts val="0"/>
              </a:spcAft>
              <a:buSzPts val="64000"/>
              <a:buNone/>
              <a:defRPr sz="64000"/>
            </a:lvl9pPr>
          </a:lstStyle>
          <a:p>
            <a:r>
              <a:t>xx%</a:t>
            </a:r>
          </a:p>
        </p:txBody>
      </p:sp>
      <p:sp>
        <p:nvSpPr>
          <p:cNvPr id="46" name="Google Shape;46;p11"/>
          <p:cNvSpPr txBox="1"/>
          <p:nvPr>
            <p:ph idx="1" type="body"/>
          </p:nvPr>
        </p:nvSpPr>
        <p:spPr>
          <a:xfrm>
            <a:off x="1496160" y="35304920"/>
            <a:ext cx="40899000" cy="14568900"/>
          </a:xfrm>
          <a:prstGeom prst="rect">
            <a:avLst/>
          </a:prstGeom>
        </p:spPr>
        <p:txBody>
          <a:bodyPr anchorCtr="0" anchor="t" bIns="487600" lIns="487600" spcFirstLastPara="1" rIns="487600" wrap="square" tIns="487600">
            <a:normAutofit/>
          </a:bodyPr>
          <a:lstStyle>
            <a:lvl1pPr indent="-838200" lvl="0" marL="457200" algn="ctr">
              <a:spcBef>
                <a:spcPts val="0"/>
              </a:spcBef>
              <a:spcAft>
                <a:spcPts val="0"/>
              </a:spcAft>
              <a:buSzPts val="9600"/>
              <a:buChar char="●"/>
              <a:defRPr/>
            </a:lvl1pPr>
            <a:lvl2pPr indent="-704850" lvl="1" marL="914400" algn="ctr">
              <a:spcBef>
                <a:spcPts val="0"/>
              </a:spcBef>
              <a:spcAft>
                <a:spcPts val="0"/>
              </a:spcAft>
              <a:buSzPts val="7500"/>
              <a:buChar char="○"/>
              <a:defRPr/>
            </a:lvl2pPr>
            <a:lvl3pPr indent="-704850" lvl="2" marL="1371600" algn="ctr">
              <a:spcBef>
                <a:spcPts val="0"/>
              </a:spcBef>
              <a:spcAft>
                <a:spcPts val="0"/>
              </a:spcAft>
              <a:buSzPts val="7500"/>
              <a:buChar char="■"/>
              <a:defRPr/>
            </a:lvl3pPr>
            <a:lvl4pPr indent="-704850" lvl="3" marL="1828800" algn="ctr">
              <a:spcBef>
                <a:spcPts val="0"/>
              </a:spcBef>
              <a:spcAft>
                <a:spcPts val="0"/>
              </a:spcAft>
              <a:buSzPts val="7500"/>
              <a:buChar char="●"/>
              <a:defRPr/>
            </a:lvl4pPr>
            <a:lvl5pPr indent="-704850" lvl="4" marL="2286000" algn="ctr">
              <a:spcBef>
                <a:spcPts val="0"/>
              </a:spcBef>
              <a:spcAft>
                <a:spcPts val="0"/>
              </a:spcAft>
              <a:buSzPts val="7500"/>
              <a:buChar char="○"/>
              <a:defRPr/>
            </a:lvl5pPr>
            <a:lvl6pPr indent="-704850" lvl="5" marL="2743200" algn="ctr">
              <a:spcBef>
                <a:spcPts val="0"/>
              </a:spcBef>
              <a:spcAft>
                <a:spcPts val="0"/>
              </a:spcAft>
              <a:buSzPts val="7500"/>
              <a:buChar char="■"/>
              <a:defRPr/>
            </a:lvl6pPr>
            <a:lvl7pPr indent="-704850" lvl="6" marL="3200400" algn="ctr">
              <a:spcBef>
                <a:spcPts val="0"/>
              </a:spcBef>
              <a:spcAft>
                <a:spcPts val="0"/>
              </a:spcAft>
              <a:buSzPts val="7500"/>
              <a:buChar char="●"/>
              <a:defRPr/>
            </a:lvl7pPr>
            <a:lvl8pPr indent="-704850" lvl="7" marL="3657600" algn="ctr">
              <a:spcBef>
                <a:spcPts val="0"/>
              </a:spcBef>
              <a:spcAft>
                <a:spcPts val="0"/>
              </a:spcAft>
              <a:buSzPts val="7500"/>
              <a:buChar char="○"/>
              <a:defRPr/>
            </a:lvl8pPr>
            <a:lvl9pPr indent="-704850" lvl="8" marL="4114800" algn="ctr">
              <a:spcBef>
                <a:spcPts val="0"/>
              </a:spcBef>
              <a:spcAft>
                <a:spcPts val="0"/>
              </a:spcAft>
              <a:buSzPts val="7500"/>
              <a:buChar char="■"/>
              <a:defRPr/>
            </a:lvl9pPr>
          </a:lstStyle>
          <a:p/>
        </p:txBody>
      </p:sp>
      <p:sp>
        <p:nvSpPr>
          <p:cNvPr id="47" name="Google Shape;47;p11"/>
          <p:cNvSpPr txBox="1"/>
          <p:nvPr>
            <p:ph idx="12" type="sldNum"/>
          </p:nvPr>
        </p:nvSpPr>
        <p:spPr>
          <a:xfrm>
            <a:off x="40667798" y="52228028"/>
            <a:ext cx="2633700" cy="4408800"/>
          </a:xfrm>
          <a:prstGeom prst="rect">
            <a:avLst/>
          </a:prstGeom>
        </p:spPr>
        <p:txBody>
          <a:bodyPr anchorCtr="0" anchor="ctr" bIns="487600" lIns="487600" spcFirstLastPara="1" rIns="487600" wrap="square" tIns="4876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40667798" y="52228028"/>
            <a:ext cx="2633700" cy="4408800"/>
          </a:xfrm>
          <a:prstGeom prst="rect">
            <a:avLst/>
          </a:prstGeom>
        </p:spPr>
        <p:txBody>
          <a:bodyPr anchorCtr="0" anchor="ctr" bIns="487600" lIns="487600" spcFirstLastPara="1" rIns="487600" wrap="square" tIns="4876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496160" y="4984280"/>
            <a:ext cx="40899000" cy="6414600"/>
          </a:xfrm>
          <a:prstGeom prst="rect">
            <a:avLst/>
          </a:prstGeom>
          <a:noFill/>
          <a:ln>
            <a:noFill/>
          </a:ln>
        </p:spPr>
        <p:txBody>
          <a:bodyPr anchorCtr="0" anchor="t" bIns="487600" lIns="487600" spcFirstLastPara="1" rIns="487600" wrap="square" tIns="487600">
            <a:normAutofit/>
          </a:bodyPr>
          <a:lstStyle>
            <a:lvl1pPr lvl="0">
              <a:spcBef>
                <a:spcPts val="0"/>
              </a:spcBef>
              <a:spcAft>
                <a:spcPts val="0"/>
              </a:spcAft>
              <a:buClr>
                <a:schemeClr val="dk1"/>
              </a:buClr>
              <a:buSzPts val="14900"/>
              <a:buNone/>
              <a:defRPr sz="14900">
                <a:solidFill>
                  <a:schemeClr val="dk1"/>
                </a:solidFill>
              </a:defRPr>
            </a:lvl1pPr>
            <a:lvl2pPr lvl="1">
              <a:spcBef>
                <a:spcPts val="0"/>
              </a:spcBef>
              <a:spcAft>
                <a:spcPts val="0"/>
              </a:spcAft>
              <a:buClr>
                <a:schemeClr val="dk1"/>
              </a:buClr>
              <a:buSzPts val="14900"/>
              <a:buNone/>
              <a:defRPr sz="14900">
                <a:solidFill>
                  <a:schemeClr val="dk1"/>
                </a:solidFill>
              </a:defRPr>
            </a:lvl2pPr>
            <a:lvl3pPr lvl="2">
              <a:spcBef>
                <a:spcPts val="0"/>
              </a:spcBef>
              <a:spcAft>
                <a:spcPts val="0"/>
              </a:spcAft>
              <a:buClr>
                <a:schemeClr val="dk1"/>
              </a:buClr>
              <a:buSzPts val="14900"/>
              <a:buNone/>
              <a:defRPr sz="14900">
                <a:solidFill>
                  <a:schemeClr val="dk1"/>
                </a:solidFill>
              </a:defRPr>
            </a:lvl3pPr>
            <a:lvl4pPr lvl="3">
              <a:spcBef>
                <a:spcPts val="0"/>
              </a:spcBef>
              <a:spcAft>
                <a:spcPts val="0"/>
              </a:spcAft>
              <a:buClr>
                <a:schemeClr val="dk1"/>
              </a:buClr>
              <a:buSzPts val="14900"/>
              <a:buNone/>
              <a:defRPr sz="14900">
                <a:solidFill>
                  <a:schemeClr val="dk1"/>
                </a:solidFill>
              </a:defRPr>
            </a:lvl4pPr>
            <a:lvl5pPr lvl="4">
              <a:spcBef>
                <a:spcPts val="0"/>
              </a:spcBef>
              <a:spcAft>
                <a:spcPts val="0"/>
              </a:spcAft>
              <a:buClr>
                <a:schemeClr val="dk1"/>
              </a:buClr>
              <a:buSzPts val="14900"/>
              <a:buNone/>
              <a:defRPr sz="14900">
                <a:solidFill>
                  <a:schemeClr val="dk1"/>
                </a:solidFill>
              </a:defRPr>
            </a:lvl5pPr>
            <a:lvl6pPr lvl="5">
              <a:spcBef>
                <a:spcPts val="0"/>
              </a:spcBef>
              <a:spcAft>
                <a:spcPts val="0"/>
              </a:spcAft>
              <a:buClr>
                <a:schemeClr val="dk1"/>
              </a:buClr>
              <a:buSzPts val="14900"/>
              <a:buNone/>
              <a:defRPr sz="14900">
                <a:solidFill>
                  <a:schemeClr val="dk1"/>
                </a:solidFill>
              </a:defRPr>
            </a:lvl6pPr>
            <a:lvl7pPr lvl="6">
              <a:spcBef>
                <a:spcPts val="0"/>
              </a:spcBef>
              <a:spcAft>
                <a:spcPts val="0"/>
              </a:spcAft>
              <a:buClr>
                <a:schemeClr val="dk1"/>
              </a:buClr>
              <a:buSzPts val="14900"/>
              <a:buNone/>
              <a:defRPr sz="14900">
                <a:solidFill>
                  <a:schemeClr val="dk1"/>
                </a:solidFill>
              </a:defRPr>
            </a:lvl7pPr>
            <a:lvl8pPr lvl="7">
              <a:spcBef>
                <a:spcPts val="0"/>
              </a:spcBef>
              <a:spcAft>
                <a:spcPts val="0"/>
              </a:spcAft>
              <a:buClr>
                <a:schemeClr val="dk1"/>
              </a:buClr>
              <a:buSzPts val="14900"/>
              <a:buNone/>
              <a:defRPr sz="14900">
                <a:solidFill>
                  <a:schemeClr val="dk1"/>
                </a:solidFill>
              </a:defRPr>
            </a:lvl8pPr>
            <a:lvl9pPr lvl="8">
              <a:spcBef>
                <a:spcPts val="0"/>
              </a:spcBef>
              <a:spcAft>
                <a:spcPts val="0"/>
              </a:spcAft>
              <a:buClr>
                <a:schemeClr val="dk1"/>
              </a:buClr>
              <a:buSzPts val="14900"/>
              <a:buNone/>
              <a:defRPr sz="14900">
                <a:solidFill>
                  <a:schemeClr val="dk1"/>
                </a:solidFill>
              </a:defRPr>
            </a:lvl9pPr>
          </a:lstStyle>
          <a:p/>
        </p:txBody>
      </p:sp>
      <p:sp>
        <p:nvSpPr>
          <p:cNvPr id="7" name="Google Shape;7;p1"/>
          <p:cNvSpPr txBox="1"/>
          <p:nvPr>
            <p:ph idx="1" type="body"/>
          </p:nvPr>
        </p:nvSpPr>
        <p:spPr>
          <a:xfrm>
            <a:off x="1496160" y="12907720"/>
            <a:ext cx="40899000" cy="38263800"/>
          </a:xfrm>
          <a:prstGeom prst="rect">
            <a:avLst/>
          </a:prstGeom>
          <a:noFill/>
          <a:ln>
            <a:noFill/>
          </a:ln>
        </p:spPr>
        <p:txBody>
          <a:bodyPr anchorCtr="0" anchor="t" bIns="487600" lIns="487600" spcFirstLastPara="1" rIns="487600" wrap="square" tIns="487600">
            <a:normAutofit/>
          </a:bodyPr>
          <a:lstStyle>
            <a:lvl1pPr indent="-838200" lvl="0" marL="457200">
              <a:lnSpc>
                <a:spcPct val="115000"/>
              </a:lnSpc>
              <a:spcBef>
                <a:spcPts val="0"/>
              </a:spcBef>
              <a:spcAft>
                <a:spcPts val="0"/>
              </a:spcAft>
              <a:buClr>
                <a:schemeClr val="dk2"/>
              </a:buClr>
              <a:buSzPts val="9600"/>
              <a:buChar char="●"/>
              <a:defRPr sz="9600">
                <a:solidFill>
                  <a:schemeClr val="dk2"/>
                </a:solidFill>
              </a:defRPr>
            </a:lvl1pPr>
            <a:lvl2pPr indent="-704850" lvl="1" marL="914400">
              <a:lnSpc>
                <a:spcPct val="115000"/>
              </a:lnSpc>
              <a:spcBef>
                <a:spcPts val="0"/>
              </a:spcBef>
              <a:spcAft>
                <a:spcPts val="0"/>
              </a:spcAft>
              <a:buClr>
                <a:schemeClr val="dk2"/>
              </a:buClr>
              <a:buSzPts val="7500"/>
              <a:buChar char="○"/>
              <a:defRPr sz="7500">
                <a:solidFill>
                  <a:schemeClr val="dk2"/>
                </a:solidFill>
              </a:defRPr>
            </a:lvl2pPr>
            <a:lvl3pPr indent="-704850" lvl="2" marL="1371600">
              <a:lnSpc>
                <a:spcPct val="115000"/>
              </a:lnSpc>
              <a:spcBef>
                <a:spcPts val="0"/>
              </a:spcBef>
              <a:spcAft>
                <a:spcPts val="0"/>
              </a:spcAft>
              <a:buClr>
                <a:schemeClr val="dk2"/>
              </a:buClr>
              <a:buSzPts val="7500"/>
              <a:buChar char="■"/>
              <a:defRPr sz="7500">
                <a:solidFill>
                  <a:schemeClr val="dk2"/>
                </a:solidFill>
              </a:defRPr>
            </a:lvl3pPr>
            <a:lvl4pPr indent="-704850" lvl="3" marL="1828800">
              <a:lnSpc>
                <a:spcPct val="115000"/>
              </a:lnSpc>
              <a:spcBef>
                <a:spcPts val="0"/>
              </a:spcBef>
              <a:spcAft>
                <a:spcPts val="0"/>
              </a:spcAft>
              <a:buClr>
                <a:schemeClr val="dk2"/>
              </a:buClr>
              <a:buSzPts val="7500"/>
              <a:buChar char="●"/>
              <a:defRPr sz="7500">
                <a:solidFill>
                  <a:schemeClr val="dk2"/>
                </a:solidFill>
              </a:defRPr>
            </a:lvl4pPr>
            <a:lvl5pPr indent="-704850" lvl="4" marL="2286000">
              <a:lnSpc>
                <a:spcPct val="115000"/>
              </a:lnSpc>
              <a:spcBef>
                <a:spcPts val="0"/>
              </a:spcBef>
              <a:spcAft>
                <a:spcPts val="0"/>
              </a:spcAft>
              <a:buClr>
                <a:schemeClr val="dk2"/>
              </a:buClr>
              <a:buSzPts val="7500"/>
              <a:buChar char="○"/>
              <a:defRPr sz="7500">
                <a:solidFill>
                  <a:schemeClr val="dk2"/>
                </a:solidFill>
              </a:defRPr>
            </a:lvl5pPr>
            <a:lvl6pPr indent="-704850" lvl="5" marL="2743200">
              <a:lnSpc>
                <a:spcPct val="115000"/>
              </a:lnSpc>
              <a:spcBef>
                <a:spcPts val="0"/>
              </a:spcBef>
              <a:spcAft>
                <a:spcPts val="0"/>
              </a:spcAft>
              <a:buClr>
                <a:schemeClr val="dk2"/>
              </a:buClr>
              <a:buSzPts val="7500"/>
              <a:buChar char="■"/>
              <a:defRPr sz="7500">
                <a:solidFill>
                  <a:schemeClr val="dk2"/>
                </a:solidFill>
              </a:defRPr>
            </a:lvl6pPr>
            <a:lvl7pPr indent="-704850" lvl="6" marL="3200400">
              <a:lnSpc>
                <a:spcPct val="115000"/>
              </a:lnSpc>
              <a:spcBef>
                <a:spcPts val="0"/>
              </a:spcBef>
              <a:spcAft>
                <a:spcPts val="0"/>
              </a:spcAft>
              <a:buClr>
                <a:schemeClr val="dk2"/>
              </a:buClr>
              <a:buSzPts val="7500"/>
              <a:buChar char="●"/>
              <a:defRPr sz="7500">
                <a:solidFill>
                  <a:schemeClr val="dk2"/>
                </a:solidFill>
              </a:defRPr>
            </a:lvl7pPr>
            <a:lvl8pPr indent="-704850" lvl="7" marL="3657600">
              <a:lnSpc>
                <a:spcPct val="115000"/>
              </a:lnSpc>
              <a:spcBef>
                <a:spcPts val="0"/>
              </a:spcBef>
              <a:spcAft>
                <a:spcPts val="0"/>
              </a:spcAft>
              <a:buClr>
                <a:schemeClr val="dk2"/>
              </a:buClr>
              <a:buSzPts val="7500"/>
              <a:buChar char="○"/>
              <a:defRPr sz="7500">
                <a:solidFill>
                  <a:schemeClr val="dk2"/>
                </a:solidFill>
              </a:defRPr>
            </a:lvl8pPr>
            <a:lvl9pPr indent="-704850" lvl="8" marL="4114800">
              <a:lnSpc>
                <a:spcPct val="115000"/>
              </a:lnSpc>
              <a:spcBef>
                <a:spcPts val="0"/>
              </a:spcBef>
              <a:spcAft>
                <a:spcPts val="0"/>
              </a:spcAft>
              <a:buClr>
                <a:schemeClr val="dk2"/>
              </a:buClr>
              <a:buSzPts val="7500"/>
              <a:buChar char="■"/>
              <a:defRPr sz="7500">
                <a:solidFill>
                  <a:schemeClr val="dk2"/>
                </a:solidFill>
              </a:defRPr>
            </a:lvl9pPr>
          </a:lstStyle>
          <a:p/>
        </p:txBody>
      </p:sp>
      <p:sp>
        <p:nvSpPr>
          <p:cNvPr id="8" name="Google Shape;8;p1"/>
          <p:cNvSpPr txBox="1"/>
          <p:nvPr>
            <p:ph idx="12" type="sldNum"/>
          </p:nvPr>
        </p:nvSpPr>
        <p:spPr>
          <a:xfrm>
            <a:off x="40667798" y="52228028"/>
            <a:ext cx="2633700" cy="4408800"/>
          </a:xfrm>
          <a:prstGeom prst="rect">
            <a:avLst/>
          </a:prstGeom>
          <a:noFill/>
          <a:ln>
            <a:noFill/>
          </a:ln>
        </p:spPr>
        <p:txBody>
          <a:bodyPr anchorCtr="0" anchor="ctr" bIns="487600" lIns="487600" spcFirstLastPara="1" rIns="487600" wrap="square" tIns="487600">
            <a:normAutofit/>
          </a:bodyPr>
          <a:lstStyle>
            <a:lvl1pPr lvl="0" algn="r">
              <a:buNone/>
              <a:defRPr sz="5300">
                <a:solidFill>
                  <a:schemeClr val="dk2"/>
                </a:solidFill>
              </a:defRPr>
            </a:lvl1pPr>
            <a:lvl2pPr lvl="1" algn="r">
              <a:buNone/>
              <a:defRPr sz="5300">
                <a:solidFill>
                  <a:schemeClr val="dk2"/>
                </a:solidFill>
              </a:defRPr>
            </a:lvl2pPr>
            <a:lvl3pPr lvl="2" algn="r">
              <a:buNone/>
              <a:defRPr sz="5300">
                <a:solidFill>
                  <a:schemeClr val="dk2"/>
                </a:solidFill>
              </a:defRPr>
            </a:lvl3pPr>
            <a:lvl4pPr lvl="3" algn="r">
              <a:buNone/>
              <a:defRPr sz="5300">
                <a:solidFill>
                  <a:schemeClr val="dk2"/>
                </a:solidFill>
              </a:defRPr>
            </a:lvl4pPr>
            <a:lvl5pPr lvl="4" algn="r">
              <a:buNone/>
              <a:defRPr sz="5300">
                <a:solidFill>
                  <a:schemeClr val="dk2"/>
                </a:solidFill>
              </a:defRPr>
            </a:lvl5pPr>
            <a:lvl6pPr lvl="5" algn="r">
              <a:buNone/>
              <a:defRPr sz="5300">
                <a:solidFill>
                  <a:schemeClr val="dk2"/>
                </a:solidFill>
              </a:defRPr>
            </a:lvl6pPr>
            <a:lvl7pPr lvl="6" algn="r">
              <a:buNone/>
              <a:defRPr sz="5300">
                <a:solidFill>
                  <a:schemeClr val="dk2"/>
                </a:solidFill>
              </a:defRPr>
            </a:lvl7pPr>
            <a:lvl8pPr lvl="7" algn="r">
              <a:buNone/>
              <a:defRPr sz="5300">
                <a:solidFill>
                  <a:schemeClr val="dk2"/>
                </a:solidFill>
              </a:defRPr>
            </a:lvl8pPr>
            <a:lvl9pPr lvl="8" algn="r">
              <a:buNone/>
              <a:defRPr sz="53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1.png"/><Relationship Id="rId10" Type="http://schemas.openxmlformats.org/officeDocument/2006/relationships/image" Target="../media/image11.png"/><Relationship Id="rId13" Type="http://schemas.openxmlformats.org/officeDocument/2006/relationships/image" Target="../media/image9.jpg"/><Relationship Id="rId12" Type="http://schemas.openxmlformats.org/officeDocument/2006/relationships/image" Target="../media/image3.png"/><Relationship Id="rId1" Type="http://schemas.openxmlformats.org/officeDocument/2006/relationships/slideLayout" Target="../slideLayouts/slideLayout4.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13.png"/><Relationship Id="rId9" Type="http://schemas.openxmlformats.org/officeDocument/2006/relationships/image" Target="../media/image5.png"/><Relationship Id="rId15" Type="http://schemas.openxmlformats.org/officeDocument/2006/relationships/image" Target="../media/image4.png"/><Relationship Id="rId14" Type="http://schemas.openxmlformats.org/officeDocument/2006/relationships/image" Target="../media/image15.png"/><Relationship Id="rId17" Type="http://schemas.openxmlformats.org/officeDocument/2006/relationships/image" Target="../media/image8.png"/><Relationship Id="rId16" Type="http://schemas.openxmlformats.org/officeDocument/2006/relationships/image" Target="../media/image10.png"/><Relationship Id="rId5" Type="http://schemas.openxmlformats.org/officeDocument/2006/relationships/image" Target="../media/image7.png"/><Relationship Id="rId6" Type="http://schemas.openxmlformats.org/officeDocument/2006/relationships/image" Target="../media/image14.png"/><Relationship Id="rId7" Type="http://schemas.openxmlformats.org/officeDocument/2006/relationships/image" Target="../media/image12.png"/><Relationship Id="rId8"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3" name="Shape 53"/>
        <p:cNvGrpSpPr/>
        <p:nvPr/>
      </p:nvGrpSpPr>
      <p:grpSpPr>
        <a:xfrm>
          <a:off x="0" y="0"/>
          <a:ext cx="0" cy="0"/>
          <a:chOff x="0" y="0"/>
          <a:chExt cx="0" cy="0"/>
        </a:xfrm>
      </p:grpSpPr>
      <p:sp>
        <p:nvSpPr>
          <p:cNvPr id="54" name="Google Shape;54;p13"/>
          <p:cNvSpPr/>
          <p:nvPr/>
        </p:nvSpPr>
        <p:spPr>
          <a:xfrm>
            <a:off x="32918400" y="0"/>
            <a:ext cx="9000" cy="65836800"/>
          </a:xfrm>
          <a:prstGeom prst="rect">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3"/>
          <p:cNvSpPr/>
          <p:nvPr/>
        </p:nvSpPr>
        <p:spPr>
          <a:xfrm>
            <a:off x="10972800" y="0"/>
            <a:ext cx="9000" cy="65836800"/>
          </a:xfrm>
          <a:prstGeom prst="rect">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3"/>
          <p:cNvSpPr/>
          <p:nvPr/>
        </p:nvSpPr>
        <p:spPr>
          <a:xfrm>
            <a:off x="685800" y="3657600"/>
            <a:ext cx="9601200" cy="13030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3"/>
          <p:cNvSpPr/>
          <p:nvPr/>
        </p:nvSpPr>
        <p:spPr>
          <a:xfrm>
            <a:off x="685800" y="2743200"/>
            <a:ext cx="9601200" cy="914400"/>
          </a:xfrm>
          <a:prstGeom prst="rect">
            <a:avLst/>
          </a:prstGeom>
          <a:solidFill>
            <a:srgbClr val="3D85C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5000">
                <a:solidFill>
                  <a:srgbClr val="FFFFFF"/>
                </a:solidFill>
                <a:latin typeface="Comfortaa"/>
                <a:ea typeface="Comfortaa"/>
                <a:cs typeface="Comfortaa"/>
                <a:sym typeface="Comfortaa"/>
              </a:rPr>
              <a:t>INTRODUCTION</a:t>
            </a:r>
            <a:endParaRPr b="1" sz="5000">
              <a:solidFill>
                <a:srgbClr val="FFFFFF"/>
              </a:solidFill>
              <a:latin typeface="Comfortaa"/>
              <a:ea typeface="Comfortaa"/>
              <a:cs typeface="Comfortaa"/>
              <a:sym typeface="Comfortaa"/>
            </a:endParaRPr>
          </a:p>
        </p:txBody>
      </p:sp>
      <p:sp>
        <p:nvSpPr>
          <p:cNvPr id="58" name="Google Shape;58;p13"/>
          <p:cNvSpPr txBox="1"/>
          <p:nvPr/>
        </p:nvSpPr>
        <p:spPr>
          <a:xfrm>
            <a:off x="903975" y="3657600"/>
            <a:ext cx="9163500" cy="1303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300">
                <a:latin typeface="Calibri"/>
                <a:ea typeface="Calibri"/>
                <a:cs typeface="Calibri"/>
                <a:sym typeface="Calibri"/>
              </a:rPr>
              <a:t>Reinforcement learning (RL) is a powerful field of machine learning where an agent learns to make decisions by interacting with an environment to maximize cumulative rewards. This paradigm takes inspiration from behavioral psychology and has powerful applications in robotics, game playing, decision-making systems, and more. Q-Learning (QL) and State-Action-Reward-State-Action (SARSA) are two fundamental algorithms within RL concerned with learning to accurately estimate the future rewards or value of taking different actions in an environment, thereby knowing which is the best to take in different situations. The main difference between SARSA and QL is when they adjust their action-value estimations. When determining the value of a certain action, SARSA accounts for the probability of exploration (taking a random action) in its value updating. Whereas, QL makes the assumption that it will always choose the action with the highest value without exploration. SARSA can be characterized as ‘cautious’, as it accounts for the possibility of choosing a random action at any given moment. Whereas, QL can be characterized as ‘careless’, as it makes the assumption that it will never explore (take a random action), when it in fact does.</a:t>
            </a:r>
            <a:endParaRPr sz="2300">
              <a:latin typeface="Calibri"/>
              <a:ea typeface="Calibri"/>
              <a:cs typeface="Calibri"/>
              <a:sym typeface="Calibri"/>
            </a:endParaRPr>
          </a:p>
          <a:p>
            <a:pPr indent="0" lvl="0" marL="0" rtl="0" algn="l">
              <a:spcBef>
                <a:spcPts val="0"/>
              </a:spcBef>
              <a:spcAft>
                <a:spcPts val="0"/>
              </a:spcAft>
              <a:buNone/>
            </a:pPr>
            <a:r>
              <a:t/>
            </a:r>
            <a:endParaRPr sz="2300">
              <a:latin typeface="Calibri"/>
              <a:ea typeface="Calibri"/>
              <a:cs typeface="Calibri"/>
              <a:sym typeface="Calibri"/>
            </a:endParaRPr>
          </a:p>
          <a:p>
            <a:pPr indent="0" lvl="0" marL="0" rtl="0" algn="l">
              <a:spcBef>
                <a:spcPts val="0"/>
              </a:spcBef>
              <a:spcAft>
                <a:spcPts val="0"/>
              </a:spcAft>
              <a:buNone/>
            </a:pPr>
            <a:r>
              <a:rPr lang="en" sz="2300">
                <a:latin typeface="Calibri"/>
                <a:ea typeface="Calibri"/>
                <a:cs typeface="Calibri"/>
                <a:sym typeface="Calibri"/>
              </a:rPr>
              <a:t>It is observed that, in many training instances, QL beats SARSA by a significant margin in terms of average converged performance. This does not make intuitive sense. All SARSA is doing is accounting for something that actually happens (ε-probability exploration), whereas QL assumes it does not exist (while it in fact does). </a:t>
            </a:r>
            <a:endParaRPr sz="2300">
              <a:latin typeface="Calibri"/>
              <a:ea typeface="Calibri"/>
              <a:cs typeface="Calibri"/>
              <a:sym typeface="Calibri"/>
            </a:endParaRPr>
          </a:p>
          <a:p>
            <a:pPr indent="0" lvl="0" marL="0" rtl="0" algn="l">
              <a:spcBef>
                <a:spcPts val="0"/>
              </a:spcBef>
              <a:spcAft>
                <a:spcPts val="0"/>
              </a:spcAft>
              <a:buNone/>
            </a:pPr>
            <a:r>
              <a:t/>
            </a:r>
            <a:endParaRPr sz="2300">
              <a:latin typeface="Calibri"/>
              <a:ea typeface="Calibri"/>
              <a:cs typeface="Calibri"/>
              <a:sym typeface="Calibri"/>
            </a:endParaRPr>
          </a:p>
          <a:p>
            <a:pPr indent="0" lvl="0" marL="0" rtl="0" algn="l">
              <a:spcBef>
                <a:spcPts val="0"/>
              </a:spcBef>
              <a:spcAft>
                <a:spcPts val="0"/>
              </a:spcAft>
              <a:buNone/>
            </a:pPr>
            <a:r>
              <a:rPr lang="en" sz="2300">
                <a:latin typeface="Calibri"/>
                <a:ea typeface="Calibri"/>
                <a:cs typeface="Calibri"/>
                <a:sym typeface="Calibri"/>
              </a:rPr>
              <a:t>The goal of this experiment is to shed light on why QL can ever outperform SARSA. My approach consists first of statistical experimentation and then mathematical analysis. Fully and computationally understanding the unintuitive advantages QL offers will aid in algorithm selection and will also, by extension, apply to many of the powerful sub-variants of QL and other off-policy algorithms which have an even greater range of powerful applications. Finally, understanding the intriguing triumph of carelessness over caution in the context of reinforcement learning agents will allow us to draw parallels into human decision-making. Can it be scientifically beneficial, for instance, to be overly-optimistic and even careless in the face of the unknown? Strangely, it can, and this project aims to find out why.</a:t>
            </a:r>
            <a:endParaRPr sz="2300">
              <a:latin typeface="Calibri"/>
              <a:ea typeface="Calibri"/>
              <a:cs typeface="Calibri"/>
              <a:sym typeface="Calibri"/>
            </a:endParaRPr>
          </a:p>
          <a:p>
            <a:pPr indent="0" lvl="0" marL="0" rtl="0" algn="l">
              <a:spcBef>
                <a:spcPts val="0"/>
              </a:spcBef>
              <a:spcAft>
                <a:spcPts val="0"/>
              </a:spcAft>
              <a:buNone/>
            </a:pPr>
            <a:r>
              <a:t/>
            </a:r>
            <a:endParaRPr sz="23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23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2300">
              <a:latin typeface="Calibri"/>
              <a:ea typeface="Calibri"/>
              <a:cs typeface="Calibri"/>
              <a:sym typeface="Calibri"/>
            </a:endParaRPr>
          </a:p>
          <a:p>
            <a:pPr indent="0" lvl="0" marL="0" rtl="0" algn="l">
              <a:spcBef>
                <a:spcPts val="0"/>
              </a:spcBef>
              <a:spcAft>
                <a:spcPts val="0"/>
              </a:spcAft>
              <a:buNone/>
            </a:pPr>
            <a:r>
              <a:t/>
            </a:r>
            <a:endParaRPr sz="2300">
              <a:latin typeface="Calibri"/>
              <a:ea typeface="Calibri"/>
              <a:cs typeface="Calibri"/>
              <a:sym typeface="Calibri"/>
            </a:endParaRPr>
          </a:p>
        </p:txBody>
      </p:sp>
      <p:sp>
        <p:nvSpPr>
          <p:cNvPr id="59" name="Google Shape;59;p13"/>
          <p:cNvSpPr/>
          <p:nvPr/>
        </p:nvSpPr>
        <p:spPr>
          <a:xfrm>
            <a:off x="685800" y="26517600"/>
            <a:ext cx="9601200" cy="2286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3"/>
          <p:cNvSpPr/>
          <p:nvPr/>
        </p:nvSpPr>
        <p:spPr>
          <a:xfrm>
            <a:off x="685800" y="25603200"/>
            <a:ext cx="9601200" cy="914400"/>
          </a:xfrm>
          <a:prstGeom prst="rect">
            <a:avLst/>
          </a:prstGeom>
          <a:solidFill>
            <a:srgbClr val="3D85C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5000">
                <a:solidFill>
                  <a:srgbClr val="FFFFFF"/>
                </a:solidFill>
                <a:latin typeface="Comfortaa"/>
                <a:ea typeface="Comfortaa"/>
                <a:cs typeface="Comfortaa"/>
                <a:sym typeface="Comfortaa"/>
              </a:rPr>
              <a:t>RESEARCH PROBLEM</a:t>
            </a:r>
            <a:endParaRPr b="1" sz="5000">
              <a:solidFill>
                <a:srgbClr val="FFFFFF"/>
              </a:solidFill>
              <a:latin typeface="Comfortaa"/>
              <a:ea typeface="Comfortaa"/>
              <a:cs typeface="Comfortaa"/>
              <a:sym typeface="Comfortaa"/>
            </a:endParaRPr>
          </a:p>
        </p:txBody>
      </p:sp>
      <p:sp>
        <p:nvSpPr>
          <p:cNvPr id="61" name="Google Shape;61;p13"/>
          <p:cNvSpPr txBox="1"/>
          <p:nvPr/>
        </p:nvSpPr>
        <p:spPr>
          <a:xfrm>
            <a:off x="1122190" y="26517600"/>
            <a:ext cx="8728800" cy="22860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pPr>
            <a:r>
              <a:rPr lang="en" sz="3900">
                <a:latin typeface="Calibri"/>
                <a:ea typeface="Calibri"/>
                <a:cs typeface="Calibri"/>
                <a:sym typeface="Calibri"/>
              </a:rPr>
              <a:t>Why can QL outperform SARSA in average converged performance?</a:t>
            </a:r>
            <a:endParaRPr sz="3900">
              <a:latin typeface="Calibri"/>
              <a:ea typeface="Calibri"/>
              <a:cs typeface="Calibri"/>
              <a:sym typeface="Calibri"/>
            </a:endParaRPr>
          </a:p>
          <a:p>
            <a:pPr indent="0" lvl="0" marL="0" rtl="0" algn="just">
              <a:lnSpc>
                <a:spcPct val="115000"/>
              </a:lnSpc>
              <a:spcBef>
                <a:spcPts val="0"/>
              </a:spcBef>
              <a:spcAft>
                <a:spcPts val="0"/>
              </a:spcAft>
              <a:buClr>
                <a:schemeClr val="dk1"/>
              </a:buClr>
              <a:buSzPts val="1100"/>
              <a:buFont typeface="Arial"/>
              <a:buNone/>
            </a:pPr>
            <a:r>
              <a:t/>
            </a:r>
            <a:endParaRPr sz="3900">
              <a:latin typeface="Calibri"/>
              <a:ea typeface="Calibri"/>
              <a:cs typeface="Calibri"/>
              <a:sym typeface="Calibri"/>
            </a:endParaRPr>
          </a:p>
          <a:p>
            <a:pPr indent="0" lvl="0" marL="0" rtl="0" algn="just">
              <a:lnSpc>
                <a:spcPct val="115000"/>
              </a:lnSpc>
              <a:spcBef>
                <a:spcPts val="0"/>
              </a:spcBef>
              <a:spcAft>
                <a:spcPts val="0"/>
              </a:spcAft>
              <a:buClr>
                <a:schemeClr val="dk1"/>
              </a:buClr>
              <a:buSzPts val="1100"/>
              <a:buFont typeface="Arial"/>
              <a:buNone/>
            </a:pPr>
            <a:r>
              <a:t/>
            </a:r>
            <a:endParaRPr sz="3900">
              <a:latin typeface="Calibri"/>
              <a:ea typeface="Calibri"/>
              <a:cs typeface="Calibri"/>
              <a:sym typeface="Calibri"/>
            </a:endParaRPr>
          </a:p>
        </p:txBody>
      </p:sp>
      <p:sp>
        <p:nvSpPr>
          <p:cNvPr id="62" name="Google Shape;62;p13"/>
          <p:cNvSpPr/>
          <p:nvPr/>
        </p:nvSpPr>
        <p:spPr>
          <a:xfrm>
            <a:off x="11658600" y="42519600"/>
            <a:ext cx="9601200" cy="14173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3"/>
          <p:cNvSpPr/>
          <p:nvPr/>
        </p:nvSpPr>
        <p:spPr>
          <a:xfrm>
            <a:off x="11658648" y="41605200"/>
            <a:ext cx="9601200" cy="914400"/>
          </a:xfrm>
          <a:prstGeom prst="rect">
            <a:avLst/>
          </a:prstGeom>
          <a:solidFill>
            <a:srgbClr val="3D85C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5000">
                <a:solidFill>
                  <a:srgbClr val="FFFFFF"/>
                </a:solidFill>
                <a:latin typeface="Comfortaa"/>
                <a:ea typeface="Comfortaa"/>
                <a:cs typeface="Comfortaa"/>
                <a:sym typeface="Comfortaa"/>
              </a:rPr>
              <a:t>PROCEDURE</a:t>
            </a:r>
            <a:endParaRPr b="1" sz="5000">
              <a:solidFill>
                <a:srgbClr val="FFFFFF"/>
              </a:solidFill>
              <a:latin typeface="Comfortaa"/>
              <a:ea typeface="Comfortaa"/>
              <a:cs typeface="Comfortaa"/>
              <a:sym typeface="Comfortaa"/>
            </a:endParaRPr>
          </a:p>
        </p:txBody>
      </p:sp>
      <p:sp>
        <p:nvSpPr>
          <p:cNvPr id="64" name="Google Shape;64;p13"/>
          <p:cNvSpPr txBox="1"/>
          <p:nvPr/>
        </p:nvSpPr>
        <p:spPr>
          <a:xfrm>
            <a:off x="11884489" y="42519600"/>
            <a:ext cx="9163500" cy="13582800"/>
          </a:xfrm>
          <a:prstGeom prst="rect">
            <a:avLst/>
          </a:prstGeom>
          <a:noFill/>
          <a:ln>
            <a:noFill/>
          </a:ln>
        </p:spPr>
        <p:txBody>
          <a:bodyPr anchorCtr="0" anchor="t" bIns="91425" lIns="91425" spcFirstLastPara="1" rIns="91425" wrap="square" tIns="91425">
            <a:noAutofit/>
          </a:bodyPr>
          <a:lstStyle/>
          <a:p>
            <a:pPr indent="0" lvl="0" marL="0" rtl="0" algn="l">
              <a:lnSpc>
                <a:spcPct val="107916"/>
              </a:lnSpc>
              <a:spcBef>
                <a:spcPts val="0"/>
              </a:spcBef>
              <a:spcAft>
                <a:spcPts val="0"/>
              </a:spcAft>
              <a:buNone/>
            </a:pPr>
            <a:r>
              <a:t/>
            </a:r>
            <a:endParaRPr sz="700">
              <a:solidFill>
                <a:schemeClr val="dk1"/>
              </a:solidFill>
              <a:latin typeface="Calibri"/>
              <a:ea typeface="Calibri"/>
              <a:cs typeface="Calibri"/>
              <a:sym typeface="Calibri"/>
            </a:endParaRPr>
          </a:p>
          <a:p>
            <a:pPr indent="-304800" lvl="0" marL="457200" rtl="0" algn="l">
              <a:lnSpc>
                <a:spcPct val="107916"/>
              </a:lnSpc>
              <a:spcBef>
                <a:spcPts val="80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Generate 10,000 random gridworlds (2D arrays of 1s and 0s) using any given procedural/random generation method (random-cell, perlin noise, drunken-walker or zero-initialization) using arbitrarily chosen generation parameters. 1s represent black wall cells, whereas 0s represent white, traversable open cells. </a:t>
            </a:r>
            <a:endParaRPr sz="1200">
              <a:solidFill>
                <a:schemeClr val="dk1"/>
              </a:solidFill>
              <a:latin typeface="Calibri"/>
              <a:ea typeface="Calibri"/>
              <a:cs typeface="Calibri"/>
              <a:sym typeface="Calibri"/>
            </a:endParaRPr>
          </a:p>
          <a:p>
            <a:pPr indent="-304800" lvl="0" marL="457200" rtl="0" algn="l">
              <a:lnSpc>
                <a:spcPct val="107916"/>
              </a:lnSpc>
              <a:spcBef>
                <a:spcPts val="80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For every gridworld, apply the connectivity constraint: All open cells (0) must form a single connected region. This means that if we consider all the open cells as a set, there must be a path through adjacent open cells between any pair of open cells. The connectivity of the open cells must not form disjoint clusters. If the connectivity constraint is not met, delete the gridworld. This is to ensure that there is a path between the start and end state, and also reduces the possible gridworld space by excluding gridworlds that have inaccessible areas as they would be equivalent to a gridworld that didn’t have them in the first place</a:t>
            </a:r>
            <a:endParaRPr sz="1200">
              <a:solidFill>
                <a:schemeClr val="dk1"/>
              </a:solidFill>
              <a:latin typeface="Calibri"/>
              <a:ea typeface="Calibri"/>
              <a:cs typeface="Calibri"/>
              <a:sym typeface="Calibri"/>
            </a:endParaRPr>
          </a:p>
          <a:p>
            <a:pPr indent="-304800" lvl="0" marL="457200" rtl="0" algn="l">
              <a:lnSpc>
                <a:spcPct val="107916"/>
              </a:lnSpc>
              <a:spcBef>
                <a:spcPts val="80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For each of the reduced population of connectivity-constrained gridworlds, obtain the ‘starting state’ as the closest white cell to the top-left corner. Similarly, obtain the ‘goal state’ as the closest white cell to the bottom-right corner.</a:t>
            </a:r>
            <a:endParaRPr sz="1200">
              <a:solidFill>
                <a:schemeClr val="dk1"/>
              </a:solidFill>
              <a:latin typeface="Calibri"/>
              <a:ea typeface="Calibri"/>
              <a:cs typeface="Calibri"/>
              <a:sym typeface="Calibri"/>
            </a:endParaRPr>
          </a:p>
          <a:p>
            <a:pPr indent="-304800" lvl="0" marL="457200" rtl="0" algn="l">
              <a:lnSpc>
                <a:spcPct val="107916"/>
              </a:lnSpc>
              <a:spcBef>
                <a:spcPts val="80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For each gridworld, obtain two metrics: </a:t>
            </a:r>
            <a:endParaRPr sz="1200">
              <a:solidFill>
                <a:schemeClr val="dk1"/>
              </a:solidFill>
              <a:latin typeface="Calibri"/>
              <a:ea typeface="Calibri"/>
              <a:cs typeface="Calibri"/>
              <a:sym typeface="Calibri"/>
            </a:endParaRPr>
          </a:p>
          <a:p>
            <a:pPr indent="-304800" lvl="1" marL="914400" rtl="0" algn="l">
              <a:lnSpc>
                <a:spcPct val="107916"/>
              </a:lnSpc>
              <a:spcBef>
                <a:spcPts val="800"/>
              </a:spcBef>
              <a:spcAft>
                <a:spcPts val="0"/>
              </a:spcAft>
              <a:buClr>
                <a:schemeClr val="dk1"/>
              </a:buClr>
              <a:buSzPts val="1200"/>
              <a:buFont typeface="Calibri"/>
              <a:buAutoNum type="alphaLcPeriod"/>
            </a:pPr>
            <a:r>
              <a:rPr lang="en" sz="1200">
                <a:solidFill>
                  <a:schemeClr val="dk1"/>
                </a:solidFill>
                <a:latin typeface="Calibri"/>
                <a:ea typeface="Calibri"/>
                <a:cs typeface="Calibri"/>
                <a:sym typeface="Calibri"/>
              </a:rPr>
              <a:t>Length of the shortest path between the start and end cell</a:t>
            </a:r>
            <a:endParaRPr sz="1200">
              <a:solidFill>
                <a:schemeClr val="dk1"/>
              </a:solidFill>
              <a:latin typeface="Calibri"/>
              <a:ea typeface="Calibri"/>
              <a:cs typeface="Calibri"/>
              <a:sym typeface="Calibri"/>
            </a:endParaRPr>
          </a:p>
          <a:p>
            <a:pPr indent="-304800" lvl="1" marL="914400" rtl="0" algn="l">
              <a:lnSpc>
                <a:spcPct val="107916"/>
              </a:lnSpc>
              <a:spcBef>
                <a:spcPts val="0"/>
              </a:spcBef>
              <a:spcAft>
                <a:spcPts val="0"/>
              </a:spcAft>
              <a:buClr>
                <a:schemeClr val="dk1"/>
              </a:buClr>
              <a:buSzPts val="1200"/>
              <a:buFont typeface="Calibri"/>
              <a:buAutoNum type="alphaLcPeriod"/>
            </a:pPr>
            <a:r>
              <a:rPr lang="en" sz="1200">
                <a:solidFill>
                  <a:schemeClr val="dk1"/>
                </a:solidFill>
                <a:latin typeface="Calibri"/>
                <a:ea typeface="Calibri"/>
                <a:cs typeface="Calibri"/>
                <a:sym typeface="Calibri"/>
              </a:rPr>
              <a:t>The average number of wall cells adjacent for every cell that consists of the shortest path generated in step 4A.</a:t>
            </a:r>
            <a:endParaRPr sz="1200">
              <a:solidFill>
                <a:schemeClr val="dk1"/>
              </a:solidFill>
              <a:latin typeface="Calibri"/>
              <a:ea typeface="Calibri"/>
              <a:cs typeface="Calibri"/>
              <a:sym typeface="Calibri"/>
            </a:endParaRPr>
          </a:p>
          <a:p>
            <a:pPr indent="0" lvl="0" marL="457200" rtl="0" algn="l">
              <a:lnSpc>
                <a:spcPct val="107916"/>
              </a:lnSpc>
              <a:spcBef>
                <a:spcPts val="800"/>
              </a:spcBef>
              <a:spcAft>
                <a:spcPts val="0"/>
              </a:spcAft>
              <a:buClr>
                <a:schemeClr val="dk1"/>
              </a:buClr>
              <a:buSzPts val="1100"/>
              <a:buFont typeface="Arial"/>
              <a:buNone/>
            </a:pPr>
            <a:r>
              <a:rPr lang="en" sz="1200">
                <a:solidFill>
                  <a:schemeClr val="dk1"/>
                </a:solidFill>
                <a:latin typeface="Calibri"/>
                <a:ea typeface="Calibri"/>
                <a:cs typeface="Calibri"/>
                <a:sym typeface="Calibri"/>
              </a:rPr>
              <a:t>If the length of the shortest path is 0 cells, delete this gridworld. Otherwise, store these two metrics into an x-y tuple (shortest_path_length, avg_path_adjacency) associated with each gridworld (called gridworld ‘points’)</a:t>
            </a:r>
            <a:endParaRPr sz="1200">
              <a:solidFill>
                <a:schemeClr val="dk1"/>
              </a:solidFill>
              <a:latin typeface="Calibri"/>
              <a:ea typeface="Calibri"/>
              <a:cs typeface="Calibri"/>
              <a:sym typeface="Calibri"/>
            </a:endParaRPr>
          </a:p>
          <a:p>
            <a:pPr indent="-304800" lvl="0" marL="457200" rtl="0" algn="l">
              <a:lnSpc>
                <a:spcPct val="107916"/>
              </a:lnSpc>
              <a:spcBef>
                <a:spcPts val="80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Along with each gridworld, store a condensed, copy+pasteable string ‘seed’ that stores the grid structure. To do this, first flatten the 2D array into a binary string, and then convert to hexadecimal form. Use some arbitrarily chosen filler characters to represent remainder bits if the size of the flattened binary string is not divisible by four. Also in this seed, store the number of rows and columns as it is needed to unflatten the binary string to 2D array. Example seed: "[3x3]8f8B"</a:t>
            </a:r>
            <a:endParaRPr sz="1200">
              <a:solidFill>
                <a:schemeClr val="dk1"/>
              </a:solidFill>
              <a:latin typeface="Calibri"/>
              <a:ea typeface="Calibri"/>
              <a:cs typeface="Calibri"/>
              <a:sym typeface="Calibri"/>
            </a:endParaRPr>
          </a:p>
          <a:p>
            <a:pPr indent="-304800" lvl="0" marL="457200" rtl="0" algn="l">
              <a:lnSpc>
                <a:spcPct val="107916"/>
              </a:lnSpc>
              <a:spcBef>
                <a:spcPts val="80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Plot the gridworld tuple points onto a scatterplot utility. Let the x-axis represent path length, and the y-axis represent avg path adjacency.</a:t>
            </a:r>
            <a:endParaRPr sz="1200">
              <a:solidFill>
                <a:schemeClr val="dk1"/>
              </a:solidFill>
              <a:latin typeface="Calibri"/>
              <a:ea typeface="Calibri"/>
              <a:cs typeface="Calibri"/>
              <a:sym typeface="Calibri"/>
            </a:endParaRPr>
          </a:p>
          <a:p>
            <a:pPr indent="-304800" lvl="0" marL="457200" rtl="0" algn="l">
              <a:lnSpc>
                <a:spcPct val="107916"/>
              </a:lnSpc>
              <a:spcBef>
                <a:spcPts val="80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Observe the range/area covered by the plotted points. Repeat steps #1-5 but use differing generation methods and parameters to change the range of the points. The goal is to use around 20 generation runs to fully map out the range path_length (x): [0,50] and avg_adjacency (y): [0,1]. When changing the generation methods/parameters, use the following guidelines</a:t>
            </a:r>
            <a:endParaRPr sz="1200">
              <a:solidFill>
                <a:schemeClr val="dk1"/>
              </a:solidFill>
              <a:latin typeface="Calibri"/>
              <a:ea typeface="Calibri"/>
              <a:cs typeface="Calibri"/>
              <a:sym typeface="Calibri"/>
            </a:endParaRPr>
          </a:p>
          <a:p>
            <a:pPr indent="-304800" lvl="0" marL="914400" rtl="0" algn="l">
              <a:lnSpc>
                <a:spcPct val="107916"/>
              </a:lnSpc>
              <a:spcBef>
                <a:spcPts val="80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random-cell method can be used to generate gridworld points on the path_length (x) range [0,10]. Vary row/cols as well as the probability of white/black cells to map out this sub-area</a:t>
            </a:r>
            <a:endParaRPr sz="1200">
              <a:solidFill>
                <a:schemeClr val="dk1"/>
              </a:solidFill>
              <a:latin typeface="Calibri"/>
              <a:ea typeface="Calibri"/>
              <a:cs typeface="Calibri"/>
              <a:sym typeface="Calibri"/>
            </a:endParaRPr>
          </a:p>
          <a:p>
            <a:pPr indent="-304800" lvl="0" marL="914400" rtl="0" algn="l">
              <a:lnSpc>
                <a:spcPct val="107916"/>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perlin-noise method can be used to map out x: [10,50] y: [0,0.75]. Control row, col, and scale to increase/decrease the path_length. Use high threshold value for covering y: [0.1-0.25], and a low one for y from [0.25, 0.75]</a:t>
            </a:r>
            <a:endParaRPr sz="1200">
              <a:solidFill>
                <a:schemeClr val="dk1"/>
              </a:solidFill>
              <a:latin typeface="Calibri"/>
              <a:ea typeface="Calibri"/>
              <a:cs typeface="Calibri"/>
              <a:sym typeface="Calibri"/>
            </a:endParaRPr>
          </a:p>
          <a:p>
            <a:pPr indent="-304800" lvl="0" marL="914400" rtl="0" algn="l">
              <a:lnSpc>
                <a:spcPct val="107916"/>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zero-initialization method can be used to map out y = 0 due to its guaranteed absence of walls. Change grid dimensions to vary x.</a:t>
            </a:r>
            <a:endParaRPr sz="1200">
              <a:solidFill>
                <a:schemeClr val="dk1"/>
              </a:solidFill>
              <a:latin typeface="Calibri"/>
              <a:ea typeface="Calibri"/>
              <a:cs typeface="Calibri"/>
              <a:sym typeface="Calibri"/>
            </a:endParaRPr>
          </a:p>
          <a:p>
            <a:pPr indent="-304800" lvl="0" marL="914400" rtl="0" algn="l">
              <a:lnSpc>
                <a:spcPct val="107916"/>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drunken-walker method can be used to map out y: [0.75, 1]. Increase/decrease duration to change x.</a:t>
            </a:r>
            <a:endParaRPr sz="1200">
              <a:solidFill>
                <a:schemeClr val="dk1"/>
              </a:solidFill>
              <a:latin typeface="Calibri"/>
              <a:ea typeface="Calibri"/>
              <a:cs typeface="Calibri"/>
              <a:sym typeface="Calibri"/>
            </a:endParaRPr>
          </a:p>
          <a:p>
            <a:pPr indent="-304800" lvl="0" marL="457200" rtl="0" algn="l">
              <a:lnSpc>
                <a:spcPct val="107916"/>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Create a list of points known as target_points, containing our desired points from range x: [0,50] and y: [0,1] at fixed intervals. Use an x-interval of 4 and a y-interval of 0.25. The resultant total amount of target points should be around 80.</a:t>
            </a:r>
            <a:endParaRPr sz="1200">
              <a:solidFill>
                <a:schemeClr val="dk1"/>
              </a:solidFill>
              <a:latin typeface="Calibri"/>
              <a:ea typeface="Calibri"/>
              <a:cs typeface="Calibri"/>
              <a:sym typeface="Calibri"/>
            </a:endParaRPr>
          </a:p>
          <a:p>
            <a:pPr indent="-304800" lvl="0" marL="457200" rtl="0" algn="l">
              <a:lnSpc>
                <a:spcPct val="107916"/>
              </a:lnSpc>
              <a:spcBef>
                <a:spcPts val="80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From the total list of gridworld points generated from steps #1-6, select only those whose points are included in target_points. Remove duplicate gridworld points</a:t>
            </a:r>
            <a:endParaRPr sz="1200">
              <a:solidFill>
                <a:schemeClr val="dk1"/>
              </a:solidFill>
              <a:latin typeface="Calibri"/>
              <a:ea typeface="Calibri"/>
              <a:cs typeface="Calibri"/>
              <a:sym typeface="Calibri"/>
            </a:endParaRPr>
          </a:p>
          <a:p>
            <a:pPr indent="-304800" lvl="0" marL="457200" rtl="0" algn="l">
              <a:lnSpc>
                <a:spcPct val="107916"/>
              </a:lnSpc>
              <a:spcBef>
                <a:spcPts val="80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Each element in the list of gridworlds should consist of the gridworld point, the gridworld seed, and information about the generation method and parameters used. Sort the list in lexicographic order with respect to the gridworld points (x,y).</a:t>
            </a:r>
            <a:endParaRPr sz="1200">
              <a:solidFill>
                <a:schemeClr val="dk1"/>
              </a:solidFill>
              <a:latin typeface="Calibri"/>
              <a:ea typeface="Calibri"/>
              <a:cs typeface="Calibri"/>
              <a:sym typeface="Calibri"/>
            </a:endParaRPr>
          </a:p>
          <a:p>
            <a:pPr indent="-304800" lvl="0" marL="457200" rtl="0" algn="l">
              <a:lnSpc>
                <a:spcPct val="107916"/>
              </a:lnSpc>
              <a:spcBef>
                <a:spcPts val="80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Inspect the gridworlds manually by taking the seed strings, decompressing them into gridworlds, and comparing them with each other. Observe the changes in gridworld structure as path_length and avg_adjacecny increases/decreases.</a:t>
            </a:r>
            <a:endParaRPr sz="1200">
              <a:solidFill>
                <a:schemeClr val="dk1"/>
              </a:solidFill>
              <a:latin typeface="Calibri"/>
              <a:ea typeface="Calibri"/>
              <a:cs typeface="Calibri"/>
              <a:sym typeface="Calibri"/>
            </a:endParaRPr>
          </a:p>
          <a:p>
            <a:pPr indent="-304800" lvl="0" marL="457200" rtl="0" algn="l">
              <a:lnSpc>
                <a:spcPct val="107916"/>
              </a:lnSpc>
              <a:spcBef>
                <a:spcPts val="80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For each gridworld, conduct a training test. Each training test consists of 500 repetitions of training runs for both QL and SARSA (1000 total). Use the SimpleGrid environment from the Gymnasium library and load our pregenerated gridworld into it. Subclass the SimpleGridEnv class so that when the agent tries to go out of bounds, remove the default punishment of -1 and instead use a neutral (0) reward. Set training hyperparameters as follows</a:t>
            </a:r>
            <a:endParaRPr sz="1200">
              <a:solidFill>
                <a:schemeClr val="dk1"/>
              </a:solidFill>
              <a:latin typeface="Calibri"/>
              <a:ea typeface="Calibri"/>
              <a:cs typeface="Calibri"/>
              <a:sym typeface="Calibri"/>
            </a:endParaRPr>
          </a:p>
          <a:p>
            <a:pPr indent="-304800" lvl="0" marL="914400" rtl="0" algn="l">
              <a:lnSpc>
                <a:spcPct val="107916"/>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max_steps: num_white_cells * 2</a:t>
            </a:r>
            <a:endParaRPr sz="1200">
              <a:solidFill>
                <a:schemeClr val="dk1"/>
              </a:solidFill>
              <a:latin typeface="Calibri"/>
              <a:ea typeface="Calibri"/>
              <a:cs typeface="Calibri"/>
              <a:sym typeface="Calibri"/>
            </a:endParaRPr>
          </a:p>
          <a:p>
            <a:pPr indent="-304800" lvl="0" marL="914400" rtl="0" algn="l">
              <a:lnSpc>
                <a:spcPct val="107916"/>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num_episodes = max(path_length * 2, 200)</a:t>
            </a:r>
            <a:endParaRPr sz="1200">
              <a:solidFill>
                <a:schemeClr val="dk1"/>
              </a:solidFill>
              <a:latin typeface="Calibri"/>
              <a:ea typeface="Calibri"/>
              <a:cs typeface="Calibri"/>
              <a:sym typeface="Calibri"/>
            </a:endParaRPr>
          </a:p>
          <a:p>
            <a:pPr indent="-304800" lvl="0" marL="914400" rtl="0" algn="l">
              <a:lnSpc>
                <a:spcPct val="107916"/>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epsilon = 0.1</a:t>
            </a:r>
            <a:endParaRPr sz="1200">
              <a:solidFill>
                <a:schemeClr val="dk1"/>
              </a:solidFill>
              <a:latin typeface="Calibri"/>
              <a:ea typeface="Calibri"/>
              <a:cs typeface="Calibri"/>
              <a:sym typeface="Calibri"/>
            </a:endParaRPr>
          </a:p>
          <a:p>
            <a:pPr indent="-304800" lvl="0" marL="914400" rtl="0" algn="l">
              <a:lnSpc>
                <a:spcPct val="107916"/>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alpha = 0.5</a:t>
            </a:r>
            <a:endParaRPr sz="1200">
              <a:solidFill>
                <a:schemeClr val="dk1"/>
              </a:solidFill>
              <a:latin typeface="Calibri"/>
              <a:ea typeface="Calibri"/>
              <a:cs typeface="Calibri"/>
              <a:sym typeface="Calibri"/>
            </a:endParaRPr>
          </a:p>
          <a:p>
            <a:pPr indent="-304800" lvl="0" marL="914400" rtl="0" algn="l">
              <a:lnSpc>
                <a:spcPct val="107916"/>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gamma = 0.99</a:t>
            </a:r>
            <a:endParaRPr sz="1200">
              <a:solidFill>
                <a:schemeClr val="dk1"/>
              </a:solidFill>
              <a:latin typeface="Calibri"/>
              <a:ea typeface="Calibri"/>
              <a:cs typeface="Calibri"/>
              <a:sym typeface="Calibri"/>
            </a:endParaRPr>
          </a:p>
          <a:p>
            <a:pPr indent="-304800" lvl="0" marL="457200" rtl="0" algn="l">
              <a:lnSpc>
                <a:spcPct val="107916"/>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During each test, plot the averaged return over episodes graph. At the end, verify that convergence has been met using the Threshold-based convergence test. (Let the needed improvement threshold be &lt; 0.1 and the window of episodes be at 100. When calculating the return 100 episodes ago and now, use the average of 10 consecutive episodes for accuracy)  If convergence for either QL or SARSA has not been met, repeat the training test and use double the number of total episodes.</a:t>
            </a:r>
            <a:endParaRPr sz="1200">
              <a:solidFill>
                <a:schemeClr val="dk1"/>
              </a:solidFill>
              <a:latin typeface="Calibri"/>
              <a:ea typeface="Calibri"/>
              <a:cs typeface="Calibri"/>
              <a:sym typeface="Calibri"/>
            </a:endParaRPr>
          </a:p>
          <a:p>
            <a:pPr indent="-304800" lvl="0" marL="457200" rtl="0" algn="l">
              <a:lnSpc>
                <a:spcPct val="107916"/>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After all 79 training tests are completed, calculate the average return for both QL and SARSA for each training test by taking the average of the last 10 return values. Calculate the comparative performance values: the difference between QL’s average convergence value and SARSA’s.</a:t>
            </a:r>
            <a:endParaRPr sz="1200">
              <a:solidFill>
                <a:schemeClr val="dk1"/>
              </a:solidFill>
              <a:latin typeface="Calibri"/>
              <a:ea typeface="Calibri"/>
              <a:cs typeface="Calibri"/>
              <a:sym typeface="Calibri"/>
            </a:endParaRPr>
          </a:p>
          <a:p>
            <a:pPr indent="-304800" lvl="0" marL="457200" rtl="0" algn="l">
              <a:lnSpc>
                <a:spcPct val="107916"/>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Plot a 2D heatmap which shows the gridworld point space and the comparative performance value. For each of the x-values, find the average QL-SARSA comparative performance value by averaging all the y-values there. Plot a scatterplot showing the same path length on the x-axis and the QL-SARSA comparative performance metric on the y-axis. </a:t>
            </a:r>
            <a:endParaRPr sz="1200">
              <a:solidFill>
                <a:schemeClr val="dk1"/>
              </a:solidFill>
              <a:latin typeface="Calibri"/>
              <a:ea typeface="Calibri"/>
              <a:cs typeface="Calibri"/>
              <a:sym typeface="Calibri"/>
            </a:endParaRPr>
          </a:p>
          <a:p>
            <a:pPr indent="-304800" lvl="0" marL="457200" rtl="0" algn="l">
              <a:lnSpc>
                <a:spcPct val="107916"/>
              </a:lnSpc>
              <a:spcBef>
                <a:spcPts val="80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From the scatterplot, find the Pearson correlation coefficient, then the Test Statistic from this Pearson coefficient, then the degrees of freedom, then the p-value, and compare to a significance value of 0.05.</a:t>
            </a:r>
            <a:endParaRPr sz="1200">
              <a:solidFill>
                <a:schemeClr val="dk1"/>
              </a:solidFill>
              <a:latin typeface="Calibri"/>
              <a:ea typeface="Calibri"/>
              <a:cs typeface="Calibri"/>
              <a:sym typeface="Calibri"/>
            </a:endParaRPr>
          </a:p>
          <a:p>
            <a:pPr indent="-304800" lvl="0" marL="457200" rtl="0" algn="l">
              <a:lnSpc>
                <a:spcPct val="107916"/>
              </a:lnSpc>
              <a:spcBef>
                <a:spcPts val="80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Begin a thorough mathematical analysis of the QL and SARSA algorithms with the goal of developing a mathematical proof of how there exists training instances where QL beats SARSA.</a:t>
            </a:r>
            <a:endParaRPr sz="1200">
              <a:solidFill>
                <a:schemeClr val="dk1"/>
              </a:solidFill>
              <a:latin typeface="Calibri"/>
              <a:ea typeface="Calibri"/>
              <a:cs typeface="Calibri"/>
              <a:sym typeface="Calibri"/>
            </a:endParaRPr>
          </a:p>
          <a:p>
            <a:pPr indent="0" lvl="0" marL="0" rtl="0" algn="l">
              <a:lnSpc>
                <a:spcPct val="107916"/>
              </a:lnSpc>
              <a:spcBef>
                <a:spcPts val="800"/>
              </a:spcBef>
              <a:spcAft>
                <a:spcPts val="800"/>
              </a:spcAft>
              <a:buNone/>
            </a:pPr>
            <a:r>
              <a:t/>
            </a:r>
            <a:endParaRPr sz="1200">
              <a:solidFill>
                <a:schemeClr val="dk1"/>
              </a:solidFill>
              <a:latin typeface="Calibri"/>
              <a:ea typeface="Calibri"/>
              <a:cs typeface="Calibri"/>
              <a:sym typeface="Calibri"/>
            </a:endParaRPr>
          </a:p>
        </p:txBody>
      </p:sp>
      <p:sp>
        <p:nvSpPr>
          <p:cNvPr id="65" name="Google Shape;65;p13"/>
          <p:cNvSpPr/>
          <p:nvPr/>
        </p:nvSpPr>
        <p:spPr>
          <a:xfrm>
            <a:off x="11658600" y="3657600"/>
            <a:ext cx="20574000" cy="20116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6" name="Google Shape;66;p13"/>
          <p:cNvSpPr/>
          <p:nvPr/>
        </p:nvSpPr>
        <p:spPr>
          <a:xfrm>
            <a:off x="11658600" y="2743200"/>
            <a:ext cx="20574000" cy="914400"/>
          </a:xfrm>
          <a:prstGeom prst="rect">
            <a:avLst/>
          </a:prstGeom>
          <a:solidFill>
            <a:srgbClr val="3D85C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5000">
                <a:solidFill>
                  <a:srgbClr val="FFFFFF"/>
                </a:solidFill>
                <a:latin typeface="Comfortaa"/>
                <a:ea typeface="Comfortaa"/>
                <a:cs typeface="Comfortaa"/>
                <a:sym typeface="Comfortaa"/>
              </a:rPr>
              <a:t>DATA</a:t>
            </a:r>
            <a:endParaRPr b="1" sz="5000">
              <a:solidFill>
                <a:srgbClr val="FFFFFF"/>
              </a:solidFill>
              <a:latin typeface="Comfortaa"/>
              <a:ea typeface="Comfortaa"/>
              <a:cs typeface="Comfortaa"/>
              <a:sym typeface="Comfortaa"/>
            </a:endParaRPr>
          </a:p>
        </p:txBody>
      </p:sp>
      <p:sp>
        <p:nvSpPr>
          <p:cNvPr id="67" name="Google Shape;67;p13"/>
          <p:cNvSpPr/>
          <p:nvPr/>
        </p:nvSpPr>
        <p:spPr>
          <a:xfrm>
            <a:off x="11658600" y="26516450"/>
            <a:ext cx="20574000" cy="14173200"/>
          </a:xfrm>
          <a:prstGeom prst="rect">
            <a:avLst/>
          </a:pr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3"/>
          <p:cNvSpPr/>
          <p:nvPr/>
        </p:nvSpPr>
        <p:spPr>
          <a:xfrm>
            <a:off x="33604200" y="26517622"/>
            <a:ext cx="9601200" cy="20116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3"/>
          <p:cNvSpPr/>
          <p:nvPr/>
        </p:nvSpPr>
        <p:spPr>
          <a:xfrm>
            <a:off x="33604200" y="25603200"/>
            <a:ext cx="9601200" cy="914400"/>
          </a:xfrm>
          <a:prstGeom prst="rect">
            <a:avLst/>
          </a:prstGeom>
          <a:solidFill>
            <a:srgbClr val="3D85C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5000">
                <a:solidFill>
                  <a:srgbClr val="FFFFFF"/>
                </a:solidFill>
                <a:latin typeface="Comfortaa"/>
                <a:ea typeface="Comfortaa"/>
                <a:cs typeface="Comfortaa"/>
                <a:sym typeface="Comfortaa"/>
              </a:rPr>
              <a:t>CONCLUSIONS</a:t>
            </a:r>
            <a:endParaRPr b="1" sz="5000">
              <a:solidFill>
                <a:srgbClr val="FFFFFF"/>
              </a:solidFill>
              <a:latin typeface="Comfortaa"/>
              <a:ea typeface="Comfortaa"/>
              <a:cs typeface="Comfortaa"/>
              <a:sym typeface="Comfortaa"/>
            </a:endParaRPr>
          </a:p>
        </p:txBody>
      </p:sp>
      <p:sp>
        <p:nvSpPr>
          <p:cNvPr id="70" name="Google Shape;70;p13"/>
          <p:cNvSpPr txBox="1"/>
          <p:nvPr/>
        </p:nvSpPr>
        <p:spPr>
          <a:xfrm>
            <a:off x="12115800" y="12987725"/>
            <a:ext cx="9567600" cy="10329600"/>
          </a:xfrm>
          <a:prstGeom prst="rect">
            <a:avLst/>
          </a:prstGeom>
          <a:noFill/>
          <a:ln cap="flat" cmpd="sng" w="9525">
            <a:solidFill>
              <a:srgbClr val="3D85C6"/>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4000">
                <a:latin typeface="Calibri"/>
                <a:ea typeface="Calibri"/>
                <a:cs typeface="Calibri"/>
                <a:sym typeface="Calibri"/>
              </a:rPr>
              <a:t>Statistical Tests</a:t>
            </a:r>
            <a:endParaRPr b="1" sz="4000">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2900">
                <a:latin typeface="Calibri"/>
                <a:ea typeface="Calibri"/>
                <a:cs typeface="Calibri"/>
                <a:sym typeface="Calibri"/>
              </a:rPr>
              <a:t>Heatmap data was transformed into a set of points representing the relation between the shortest path length and the average QL-SARSA performance, by taking the average of all y-values for each x-value. A pearson correlation test was conducted to test the correlation between path length and the QL-SARSA performance difference</a:t>
            </a:r>
            <a:endParaRPr sz="2900">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3000">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3000">
                <a:latin typeface="Calibri"/>
                <a:ea typeface="Calibri"/>
                <a:cs typeface="Calibri"/>
                <a:sym typeface="Calibri"/>
              </a:rPr>
              <a:t>Pearson Correlation coefficient: 0.64</a:t>
            </a:r>
            <a:endParaRPr sz="3000">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3000">
                <a:latin typeface="Calibri"/>
                <a:ea typeface="Calibri"/>
                <a:cs typeface="Calibri"/>
                <a:sym typeface="Calibri"/>
              </a:rPr>
              <a:t>P-value: 1.83e-10</a:t>
            </a:r>
            <a:endParaRPr sz="3000">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3000">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3000">
                <a:latin typeface="Calibri"/>
                <a:ea typeface="Calibri"/>
                <a:cs typeface="Calibri"/>
                <a:sym typeface="Calibri"/>
              </a:rPr>
              <a:t>Significance value = 0.05</a:t>
            </a:r>
            <a:endParaRPr sz="3000">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3000">
                <a:latin typeface="Calibri"/>
                <a:ea typeface="Calibri"/>
                <a:cs typeface="Calibri"/>
                <a:sym typeface="Calibri"/>
              </a:rPr>
              <a:t>1.83 e-10 &lt; 0.05? Yes</a:t>
            </a:r>
            <a:endParaRPr sz="3000">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3000">
              <a:latin typeface="Calibri"/>
              <a:ea typeface="Calibri"/>
              <a:cs typeface="Calibri"/>
              <a:sym typeface="Calibri"/>
            </a:endParaRPr>
          </a:p>
          <a:p>
            <a:pPr indent="0" lvl="0" marL="0" rtl="0" algn="l">
              <a:lnSpc>
                <a:spcPct val="115000"/>
              </a:lnSpc>
              <a:spcBef>
                <a:spcPts val="0"/>
              </a:spcBef>
              <a:spcAft>
                <a:spcPts val="0"/>
              </a:spcAft>
              <a:buNone/>
            </a:pPr>
            <a:r>
              <a:rPr lang="en" sz="3000">
                <a:latin typeface="Calibri"/>
                <a:ea typeface="Calibri"/>
                <a:cs typeface="Calibri"/>
                <a:sym typeface="Calibri"/>
              </a:rPr>
              <a:t>A statistically significant, moderate positive correlation between the length of the shortest path in a gridworld and the difference between QL’s and SARSA’s average convergence performance was found.</a:t>
            </a:r>
            <a:endParaRPr sz="3000">
              <a:latin typeface="Calibri"/>
              <a:ea typeface="Calibri"/>
              <a:cs typeface="Calibri"/>
              <a:sym typeface="Calibri"/>
            </a:endParaRPr>
          </a:p>
        </p:txBody>
      </p:sp>
      <p:sp>
        <p:nvSpPr>
          <p:cNvPr id="71" name="Google Shape;71;p13"/>
          <p:cNvSpPr txBox="1"/>
          <p:nvPr/>
        </p:nvSpPr>
        <p:spPr>
          <a:xfrm>
            <a:off x="33822428" y="26517622"/>
            <a:ext cx="9163500" cy="2011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950">
                <a:solidFill>
                  <a:srgbClr val="2D3B45"/>
                </a:solidFill>
                <a:latin typeface="Calibri"/>
                <a:ea typeface="Calibri"/>
                <a:cs typeface="Calibri"/>
                <a:sym typeface="Calibri"/>
              </a:rPr>
              <a:t>The results from the main experiment demonstrate that there is only a moderately positive correlation between environment reward sparsity (x-axis) and the performance of QL over SARSA. My hypothesis that there would be a more prevalent positive trend is not sufficiently supported. There were training instances where QL performed higher despite a lower reward sparsity. Additionally, the average number of adjacent walls (y-axis) had just as much an effect on the performance difference as did the shortest path length. From this main statistical experiment, I conclude that reward sparsity alone is not a sufficiently strong enough predictor of the performance difference between QL and SARSA.</a:t>
            </a:r>
            <a:endParaRPr sz="2950">
              <a:solidFill>
                <a:srgbClr val="2D3B45"/>
              </a:solidFill>
              <a:latin typeface="Calibri"/>
              <a:ea typeface="Calibri"/>
              <a:cs typeface="Calibri"/>
              <a:sym typeface="Calibri"/>
            </a:endParaRPr>
          </a:p>
          <a:p>
            <a:pPr indent="0" lvl="0" marL="0" rtl="0" algn="l">
              <a:spcBef>
                <a:spcPts val="0"/>
              </a:spcBef>
              <a:spcAft>
                <a:spcPts val="0"/>
              </a:spcAft>
              <a:buNone/>
            </a:pPr>
            <a:r>
              <a:t/>
            </a:r>
            <a:endParaRPr sz="2950">
              <a:solidFill>
                <a:srgbClr val="2D3B45"/>
              </a:solidFill>
              <a:latin typeface="Calibri"/>
              <a:ea typeface="Calibri"/>
              <a:cs typeface="Calibri"/>
              <a:sym typeface="Calibri"/>
            </a:endParaRPr>
          </a:p>
          <a:p>
            <a:pPr indent="0" lvl="0" marL="0" rtl="0" algn="l">
              <a:spcBef>
                <a:spcPts val="0"/>
              </a:spcBef>
              <a:spcAft>
                <a:spcPts val="0"/>
              </a:spcAft>
              <a:buNone/>
            </a:pPr>
            <a:r>
              <a:rPr lang="en" sz="2950">
                <a:solidFill>
                  <a:srgbClr val="2D3B45"/>
                </a:solidFill>
                <a:latin typeface="Calibri"/>
                <a:ea typeface="Calibri"/>
                <a:cs typeface="Calibri"/>
                <a:sym typeface="Calibri"/>
              </a:rPr>
              <a:t>However, the subsequent mathematical analysis effectively and definitively answered why QL can beat SARSA. Essentially, SARSA’s accounting of the cost of exploration prevents it from exploring the environment further. It thus never learns of the existence of the reward state and converges to a suboptimal policy where it tries to stay in one place farthest from all walls. QL ignores the cost of exploration. This causes it to be more optimistic in its Q-value estimations, more eager to explore, and more likely to find the path to the goal state. QL’s supposed ‘ignoration of reality’ actually allows it to learn more about the environment in the long run. </a:t>
            </a:r>
            <a:endParaRPr sz="2950">
              <a:solidFill>
                <a:srgbClr val="2D3B45"/>
              </a:solidFill>
              <a:latin typeface="Calibri"/>
              <a:ea typeface="Calibri"/>
              <a:cs typeface="Calibri"/>
              <a:sym typeface="Calibri"/>
            </a:endParaRPr>
          </a:p>
          <a:p>
            <a:pPr indent="0" lvl="0" marL="0" rtl="0" algn="l">
              <a:spcBef>
                <a:spcPts val="0"/>
              </a:spcBef>
              <a:spcAft>
                <a:spcPts val="0"/>
              </a:spcAft>
              <a:buNone/>
            </a:pPr>
            <a:r>
              <a:t/>
            </a:r>
            <a:endParaRPr sz="2950">
              <a:solidFill>
                <a:srgbClr val="2D3B45"/>
              </a:solidFill>
              <a:latin typeface="Calibri"/>
              <a:ea typeface="Calibri"/>
              <a:cs typeface="Calibri"/>
              <a:sym typeface="Calibri"/>
            </a:endParaRPr>
          </a:p>
          <a:p>
            <a:pPr indent="0" lvl="0" marL="0" rtl="0" algn="l">
              <a:spcBef>
                <a:spcPts val="0"/>
              </a:spcBef>
              <a:spcAft>
                <a:spcPts val="0"/>
              </a:spcAft>
              <a:buNone/>
            </a:pPr>
            <a:r>
              <a:rPr lang="en" sz="2950">
                <a:solidFill>
                  <a:srgbClr val="2D3B45"/>
                </a:solidFill>
                <a:latin typeface="Calibri"/>
                <a:ea typeface="Calibri"/>
                <a:cs typeface="Calibri"/>
                <a:sym typeface="Calibri"/>
              </a:rPr>
              <a:t>The immediate application of this is algorithm selection. QL should be used over SARSA in environments with a long and costly exploration phase. On the other hand, SARSA should be used when there is a significant cost of ignoring the possibility of exploration after convergence. This extends to the myriad of highly powerful variants of QL and SARSA such as Deep Q-Learning or Deep SARSA, as well as with regard to all off- and on-policy TD algorithms. The conclusion also implies the plausibility of a hybrid approach of off where the agent first uses the QL update rule to explore the full environment, and then switches to SARSA in order to account for the ε ignoration cost. However, perhaps most interesting is the implication on human decision-making. Sometimes in life, pushing through the perils of exploring the unknown can eventually prove to reward itself many times over.</a:t>
            </a:r>
            <a:endParaRPr sz="2950">
              <a:solidFill>
                <a:srgbClr val="2D3B45"/>
              </a:solidFill>
              <a:latin typeface="Calibri"/>
              <a:ea typeface="Calibri"/>
              <a:cs typeface="Calibri"/>
              <a:sym typeface="Calibri"/>
            </a:endParaRPr>
          </a:p>
        </p:txBody>
      </p:sp>
      <p:sp>
        <p:nvSpPr>
          <p:cNvPr id="72" name="Google Shape;72;p13"/>
          <p:cNvSpPr/>
          <p:nvPr/>
        </p:nvSpPr>
        <p:spPr>
          <a:xfrm>
            <a:off x="685800" y="30403808"/>
            <a:ext cx="9601200" cy="5486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3"/>
          <p:cNvSpPr/>
          <p:nvPr/>
        </p:nvSpPr>
        <p:spPr>
          <a:xfrm>
            <a:off x="685800" y="29489400"/>
            <a:ext cx="9601200" cy="914400"/>
          </a:xfrm>
          <a:prstGeom prst="rect">
            <a:avLst/>
          </a:prstGeom>
          <a:solidFill>
            <a:srgbClr val="3D85C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5000">
                <a:solidFill>
                  <a:srgbClr val="FFFFFF"/>
                </a:solidFill>
                <a:latin typeface="Comfortaa"/>
                <a:ea typeface="Comfortaa"/>
                <a:cs typeface="Comfortaa"/>
                <a:sym typeface="Comfortaa"/>
              </a:rPr>
              <a:t>HYPOTHESIS</a:t>
            </a:r>
            <a:endParaRPr b="1" sz="5000">
              <a:solidFill>
                <a:srgbClr val="FFFFFF"/>
              </a:solidFill>
              <a:latin typeface="Comfortaa"/>
              <a:ea typeface="Comfortaa"/>
              <a:cs typeface="Comfortaa"/>
              <a:sym typeface="Comfortaa"/>
            </a:endParaRPr>
          </a:p>
        </p:txBody>
      </p:sp>
      <p:sp>
        <p:nvSpPr>
          <p:cNvPr id="74" name="Google Shape;74;p13"/>
          <p:cNvSpPr txBox="1"/>
          <p:nvPr/>
        </p:nvSpPr>
        <p:spPr>
          <a:xfrm>
            <a:off x="1187675" y="30403800"/>
            <a:ext cx="8728800" cy="53949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pPr>
            <a:r>
              <a:rPr lang="en" sz="3000">
                <a:latin typeface="Calibri"/>
                <a:ea typeface="Calibri"/>
                <a:cs typeface="Calibri"/>
                <a:sym typeface="Calibri"/>
              </a:rPr>
              <a:t>As the length of the shortest path from start to goal state in the gridworlds increase, the performance gap in terms of the average return at convergence will increasingly widen in favor of QL, because path lengths in gridworlds are a direct representation of environment reward sparsity, and QL’s use of the max operator in its update rule allows it to find and propagate sparse reward values faster.</a:t>
            </a:r>
            <a:endParaRPr sz="3000">
              <a:latin typeface="Calibri"/>
              <a:ea typeface="Calibri"/>
              <a:cs typeface="Calibri"/>
              <a:sym typeface="Calibri"/>
            </a:endParaRPr>
          </a:p>
        </p:txBody>
      </p:sp>
      <p:sp>
        <p:nvSpPr>
          <p:cNvPr id="75" name="Google Shape;75;p13"/>
          <p:cNvSpPr/>
          <p:nvPr/>
        </p:nvSpPr>
        <p:spPr>
          <a:xfrm>
            <a:off x="694800" y="36576000"/>
            <a:ext cx="9601200" cy="914400"/>
          </a:xfrm>
          <a:prstGeom prst="rect">
            <a:avLst/>
          </a:prstGeom>
          <a:solidFill>
            <a:srgbClr val="999999"/>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4000">
                <a:solidFill>
                  <a:schemeClr val="lt1"/>
                </a:solidFill>
                <a:latin typeface="Comfortaa"/>
                <a:ea typeface="Comfortaa"/>
                <a:cs typeface="Comfortaa"/>
                <a:sym typeface="Comfortaa"/>
              </a:rPr>
              <a:t>SimpleGrid</a:t>
            </a:r>
            <a:endParaRPr b="1" sz="3000">
              <a:solidFill>
                <a:srgbClr val="FFFFFF"/>
              </a:solidFill>
              <a:latin typeface="Comfortaa"/>
              <a:ea typeface="Comfortaa"/>
              <a:cs typeface="Comfortaa"/>
              <a:sym typeface="Comfortaa"/>
            </a:endParaRPr>
          </a:p>
        </p:txBody>
      </p:sp>
      <p:sp>
        <p:nvSpPr>
          <p:cNvPr id="76" name="Google Shape;76;p13"/>
          <p:cNvSpPr/>
          <p:nvPr/>
        </p:nvSpPr>
        <p:spPr>
          <a:xfrm>
            <a:off x="0" y="24688800"/>
            <a:ext cx="43891200" cy="45600"/>
          </a:xfrm>
          <a:prstGeom prst="rect">
            <a:avLst/>
          </a:prstGeom>
          <a:solidFill>
            <a:srgbClr val="FFFFFF"/>
          </a:solid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3"/>
          <p:cNvSpPr/>
          <p:nvPr/>
        </p:nvSpPr>
        <p:spPr>
          <a:xfrm>
            <a:off x="12248447" y="30174616"/>
            <a:ext cx="9573600" cy="10049700"/>
          </a:xfrm>
          <a:prstGeom prst="rect">
            <a:avLst/>
          </a:prstGeom>
          <a:solidFill>
            <a:srgbClr val="FFFFFF"/>
          </a:solidFill>
          <a:ln cap="flat" cmpd="sng" w="2857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3"/>
          <p:cNvSpPr/>
          <p:nvPr/>
        </p:nvSpPr>
        <p:spPr>
          <a:xfrm>
            <a:off x="12234672" y="29489400"/>
            <a:ext cx="9601200" cy="685200"/>
          </a:xfrm>
          <a:prstGeom prst="rect">
            <a:avLst/>
          </a:prstGeom>
          <a:solidFill>
            <a:srgbClr val="999999"/>
          </a:solidFill>
          <a:ln cap="flat" cmpd="sng" w="9525">
            <a:solidFill>
              <a:srgbClr val="5B0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solidFill>
                  <a:srgbClr val="FFFFFF"/>
                </a:solidFill>
                <a:latin typeface="Comfortaa"/>
                <a:ea typeface="Comfortaa"/>
                <a:cs typeface="Comfortaa"/>
                <a:sym typeface="Comfortaa"/>
              </a:rPr>
              <a:t>Q-Learning (QL)</a:t>
            </a:r>
            <a:endParaRPr b="1" sz="3000">
              <a:solidFill>
                <a:srgbClr val="FFFFFF"/>
              </a:solidFill>
              <a:latin typeface="Comfortaa"/>
              <a:ea typeface="Comfortaa"/>
              <a:cs typeface="Comfortaa"/>
              <a:sym typeface="Comfortaa"/>
            </a:endParaRPr>
          </a:p>
        </p:txBody>
      </p:sp>
      <p:sp>
        <p:nvSpPr>
          <p:cNvPr id="79" name="Google Shape;79;p13"/>
          <p:cNvSpPr txBox="1"/>
          <p:nvPr/>
        </p:nvSpPr>
        <p:spPr>
          <a:xfrm>
            <a:off x="12481560" y="30178609"/>
            <a:ext cx="9116700" cy="9751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pPr>
            <a:r>
              <a:rPr lang="en" sz="3000">
                <a:solidFill>
                  <a:schemeClr val="dk1"/>
                </a:solidFill>
                <a:latin typeface="Calibri"/>
                <a:ea typeface="Calibri"/>
                <a:cs typeface="Calibri"/>
                <a:sym typeface="Calibri"/>
              </a:rPr>
              <a:t>QL is considered off-policy, meaning its target policy π differs from the behavior policy executed. </a:t>
            </a:r>
            <a:endParaRPr sz="3000">
              <a:solidFill>
                <a:schemeClr val="dk1"/>
              </a:solidFill>
              <a:latin typeface="Calibri"/>
              <a:ea typeface="Calibri"/>
              <a:cs typeface="Calibri"/>
              <a:sym typeface="Calibri"/>
            </a:endParaRPr>
          </a:p>
          <a:p>
            <a:pPr indent="0" lvl="0" marL="0" rtl="0" algn="just">
              <a:lnSpc>
                <a:spcPct val="115000"/>
              </a:lnSpc>
              <a:spcBef>
                <a:spcPts val="0"/>
              </a:spcBef>
              <a:spcAft>
                <a:spcPts val="0"/>
              </a:spcAft>
              <a:buClr>
                <a:schemeClr val="dk1"/>
              </a:buClr>
              <a:buSzPts val="1100"/>
              <a:buFont typeface="Arial"/>
              <a:buNone/>
            </a:pPr>
            <a:r>
              <a:t/>
            </a:r>
            <a:endParaRPr sz="3000">
              <a:solidFill>
                <a:schemeClr val="dk1"/>
              </a:solidFill>
              <a:latin typeface="Calibri"/>
              <a:ea typeface="Calibri"/>
              <a:cs typeface="Calibri"/>
              <a:sym typeface="Calibri"/>
            </a:endParaRPr>
          </a:p>
          <a:p>
            <a:pPr indent="0" lvl="0" marL="0" rtl="0" algn="just">
              <a:lnSpc>
                <a:spcPct val="115000"/>
              </a:lnSpc>
              <a:spcBef>
                <a:spcPts val="0"/>
              </a:spcBef>
              <a:spcAft>
                <a:spcPts val="0"/>
              </a:spcAft>
              <a:buClr>
                <a:schemeClr val="dk1"/>
              </a:buClr>
              <a:buSzPts val="1100"/>
              <a:buFont typeface="Arial"/>
              <a:buNone/>
            </a:pPr>
            <a:r>
              <a:t/>
            </a:r>
            <a:endParaRPr sz="3000">
              <a:solidFill>
                <a:schemeClr val="dk1"/>
              </a:solidFill>
              <a:latin typeface="Calibri"/>
              <a:ea typeface="Calibri"/>
              <a:cs typeface="Calibri"/>
              <a:sym typeface="Calibri"/>
            </a:endParaRPr>
          </a:p>
          <a:p>
            <a:pPr indent="0" lvl="0" marL="0" rtl="0" algn="just">
              <a:lnSpc>
                <a:spcPct val="115000"/>
              </a:lnSpc>
              <a:spcBef>
                <a:spcPts val="0"/>
              </a:spcBef>
              <a:spcAft>
                <a:spcPts val="0"/>
              </a:spcAft>
              <a:buClr>
                <a:schemeClr val="dk1"/>
              </a:buClr>
              <a:buSzPts val="1100"/>
              <a:buFont typeface="Arial"/>
              <a:buNone/>
            </a:pPr>
            <a:r>
              <a:t/>
            </a:r>
            <a:endParaRPr sz="3000">
              <a:solidFill>
                <a:schemeClr val="dk1"/>
              </a:solidFill>
              <a:latin typeface="Calibri"/>
              <a:ea typeface="Calibri"/>
              <a:cs typeface="Calibri"/>
              <a:sym typeface="Calibri"/>
            </a:endParaRPr>
          </a:p>
          <a:p>
            <a:pPr indent="0" lvl="0" marL="0" rtl="0" algn="just">
              <a:lnSpc>
                <a:spcPct val="115000"/>
              </a:lnSpc>
              <a:spcBef>
                <a:spcPts val="0"/>
              </a:spcBef>
              <a:spcAft>
                <a:spcPts val="0"/>
              </a:spcAft>
              <a:buClr>
                <a:schemeClr val="dk1"/>
              </a:buClr>
              <a:buSzPts val="1100"/>
              <a:buFont typeface="Arial"/>
              <a:buNone/>
            </a:pPr>
            <a:r>
              <a:t/>
            </a:r>
            <a:endParaRPr sz="3000">
              <a:solidFill>
                <a:schemeClr val="dk1"/>
              </a:solidFill>
              <a:latin typeface="Calibri"/>
              <a:ea typeface="Calibri"/>
              <a:cs typeface="Calibri"/>
              <a:sym typeface="Calibri"/>
            </a:endParaRPr>
          </a:p>
          <a:p>
            <a:pPr indent="0" lvl="0" marL="0" rtl="0" algn="just">
              <a:lnSpc>
                <a:spcPct val="115000"/>
              </a:lnSpc>
              <a:spcBef>
                <a:spcPts val="0"/>
              </a:spcBef>
              <a:spcAft>
                <a:spcPts val="0"/>
              </a:spcAft>
              <a:buClr>
                <a:schemeClr val="dk1"/>
              </a:buClr>
              <a:buSzPts val="1100"/>
              <a:buFont typeface="Arial"/>
              <a:buNone/>
            </a:pPr>
            <a:r>
              <a:rPr lang="en" sz="3000">
                <a:solidFill>
                  <a:schemeClr val="dk1"/>
                </a:solidFill>
                <a:latin typeface="Calibri"/>
                <a:ea typeface="Calibri"/>
                <a:cs typeface="Calibri"/>
                <a:sym typeface="Calibri"/>
              </a:rPr>
              <a:t>QL’s bootstrap expression max</a:t>
            </a:r>
            <a:r>
              <a:rPr baseline="-25000" lang="en" sz="3000">
                <a:solidFill>
                  <a:schemeClr val="dk1"/>
                </a:solidFill>
                <a:latin typeface="Calibri"/>
                <a:ea typeface="Calibri"/>
                <a:cs typeface="Calibri"/>
                <a:sym typeface="Calibri"/>
              </a:rPr>
              <a:t>a</a:t>
            </a:r>
            <a:r>
              <a:rPr lang="en" sz="3000">
                <a:solidFill>
                  <a:schemeClr val="dk1"/>
                </a:solidFill>
                <a:latin typeface="Calibri"/>
                <a:ea typeface="Calibri"/>
                <a:cs typeface="Calibri"/>
                <a:sym typeface="Calibri"/>
              </a:rPr>
              <a:t>Q(s</a:t>
            </a:r>
            <a:r>
              <a:rPr baseline="-25000" lang="en" sz="3000">
                <a:solidFill>
                  <a:schemeClr val="dk1"/>
                </a:solidFill>
                <a:latin typeface="Calibri"/>
                <a:ea typeface="Calibri"/>
                <a:cs typeface="Calibri"/>
                <a:sym typeface="Calibri"/>
              </a:rPr>
              <a:t>t</a:t>
            </a:r>
            <a:r>
              <a:rPr lang="en" sz="3000">
                <a:solidFill>
                  <a:schemeClr val="dk1"/>
                </a:solidFill>
                <a:latin typeface="Calibri"/>
                <a:ea typeface="Calibri"/>
                <a:cs typeface="Calibri"/>
                <a:sym typeface="Calibri"/>
              </a:rPr>
              <a:t>,a) essentially makes it update existing Q-values with the assumption that, in future states, it will always exploit (take the maximum-value action). This assumption is made despite the fact that, in reality, it exploits with probability 1-ε, and explores (takes an action at random) with probability ε. </a:t>
            </a:r>
            <a:endParaRPr sz="3000">
              <a:solidFill>
                <a:schemeClr val="dk1"/>
              </a:solidFill>
              <a:latin typeface="Calibri"/>
              <a:ea typeface="Calibri"/>
              <a:cs typeface="Calibri"/>
              <a:sym typeface="Calibri"/>
            </a:endParaRPr>
          </a:p>
          <a:p>
            <a:pPr indent="0" lvl="0" marL="0" rtl="0" algn="just">
              <a:lnSpc>
                <a:spcPct val="115000"/>
              </a:lnSpc>
              <a:spcBef>
                <a:spcPts val="0"/>
              </a:spcBef>
              <a:spcAft>
                <a:spcPts val="0"/>
              </a:spcAft>
              <a:buClr>
                <a:schemeClr val="dk1"/>
              </a:buClr>
              <a:buSzPts val="1100"/>
              <a:buFont typeface="Arial"/>
              <a:buNone/>
            </a:pPr>
            <a:r>
              <a:t/>
            </a:r>
            <a:endParaRPr sz="3000">
              <a:solidFill>
                <a:schemeClr val="dk1"/>
              </a:solidFill>
              <a:latin typeface="Calibri"/>
              <a:ea typeface="Calibri"/>
              <a:cs typeface="Calibri"/>
              <a:sym typeface="Calibri"/>
            </a:endParaRPr>
          </a:p>
          <a:p>
            <a:pPr indent="0" lvl="0" marL="0" rtl="0" algn="just">
              <a:lnSpc>
                <a:spcPct val="115000"/>
              </a:lnSpc>
              <a:spcBef>
                <a:spcPts val="0"/>
              </a:spcBef>
              <a:spcAft>
                <a:spcPts val="0"/>
              </a:spcAft>
              <a:buClr>
                <a:schemeClr val="dk1"/>
              </a:buClr>
              <a:buSzPts val="1100"/>
              <a:buFont typeface="Arial"/>
              <a:buNone/>
            </a:pPr>
            <a:r>
              <a:rPr lang="en" sz="3000">
                <a:solidFill>
                  <a:schemeClr val="dk1"/>
                </a:solidFill>
                <a:latin typeface="Calibri"/>
                <a:ea typeface="Calibri"/>
                <a:cs typeface="Calibri"/>
                <a:sym typeface="Calibri"/>
              </a:rPr>
              <a:t>I therefore characterize QL as ‘careless’ as it completely disregards ε-probability exploration even when it happens.</a:t>
            </a:r>
            <a:endParaRPr sz="3000">
              <a:latin typeface="Calibri"/>
              <a:ea typeface="Calibri"/>
              <a:cs typeface="Calibri"/>
              <a:sym typeface="Calibri"/>
            </a:endParaRPr>
          </a:p>
        </p:txBody>
      </p:sp>
      <p:sp>
        <p:nvSpPr>
          <p:cNvPr id="80" name="Google Shape;80;p13"/>
          <p:cNvSpPr/>
          <p:nvPr/>
        </p:nvSpPr>
        <p:spPr>
          <a:xfrm>
            <a:off x="22078298" y="30180518"/>
            <a:ext cx="9573600" cy="10049700"/>
          </a:xfrm>
          <a:prstGeom prst="rect">
            <a:avLst/>
          </a:prstGeom>
          <a:solidFill>
            <a:srgbClr val="FFFFFF"/>
          </a:solidFill>
          <a:ln cap="flat" cmpd="sng" w="2857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3"/>
          <p:cNvSpPr/>
          <p:nvPr/>
        </p:nvSpPr>
        <p:spPr>
          <a:xfrm>
            <a:off x="22064472" y="29493819"/>
            <a:ext cx="9601200" cy="685200"/>
          </a:xfrm>
          <a:prstGeom prst="rect">
            <a:avLst/>
          </a:prstGeom>
          <a:solidFill>
            <a:srgbClr val="999999"/>
          </a:solidFill>
          <a:ln cap="flat" cmpd="sng" w="9525">
            <a:solidFill>
              <a:srgbClr val="5B0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solidFill>
                  <a:srgbClr val="FFFFFF"/>
                </a:solidFill>
                <a:latin typeface="Comfortaa"/>
                <a:ea typeface="Comfortaa"/>
                <a:cs typeface="Comfortaa"/>
                <a:sym typeface="Comfortaa"/>
              </a:rPr>
              <a:t>State-Action-Reward-State-Action (SARSA)</a:t>
            </a:r>
            <a:endParaRPr b="1" sz="3000">
              <a:solidFill>
                <a:srgbClr val="FFFFFF"/>
              </a:solidFill>
              <a:latin typeface="Comfortaa"/>
              <a:ea typeface="Comfortaa"/>
              <a:cs typeface="Comfortaa"/>
              <a:sym typeface="Comfortaa"/>
            </a:endParaRPr>
          </a:p>
        </p:txBody>
      </p:sp>
      <p:sp>
        <p:nvSpPr>
          <p:cNvPr id="82" name="Google Shape;82;p13"/>
          <p:cNvSpPr txBox="1"/>
          <p:nvPr/>
        </p:nvSpPr>
        <p:spPr>
          <a:xfrm>
            <a:off x="22311360" y="30183752"/>
            <a:ext cx="9116700" cy="100497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pPr>
            <a:r>
              <a:rPr lang="en" sz="3000">
                <a:solidFill>
                  <a:schemeClr val="dk1"/>
                </a:solidFill>
                <a:latin typeface="Calibri"/>
                <a:ea typeface="Calibri"/>
                <a:cs typeface="Calibri"/>
                <a:sym typeface="Calibri"/>
              </a:rPr>
              <a:t>SARSA is considered on-policy, meaning it learns the same target policy π as the policy it is following.</a:t>
            </a:r>
            <a:endParaRPr sz="3000">
              <a:solidFill>
                <a:schemeClr val="dk1"/>
              </a:solidFill>
              <a:latin typeface="Calibri"/>
              <a:ea typeface="Calibri"/>
              <a:cs typeface="Calibri"/>
              <a:sym typeface="Calibri"/>
            </a:endParaRPr>
          </a:p>
          <a:p>
            <a:pPr indent="0" lvl="0" marL="0" rtl="0" algn="just">
              <a:lnSpc>
                <a:spcPct val="115000"/>
              </a:lnSpc>
              <a:spcBef>
                <a:spcPts val="0"/>
              </a:spcBef>
              <a:spcAft>
                <a:spcPts val="0"/>
              </a:spcAft>
              <a:buClr>
                <a:schemeClr val="dk1"/>
              </a:buClr>
              <a:buSzPts val="1100"/>
              <a:buFont typeface="Arial"/>
              <a:buNone/>
            </a:pPr>
            <a:r>
              <a:t/>
            </a:r>
            <a:endParaRPr sz="3000">
              <a:solidFill>
                <a:schemeClr val="dk1"/>
              </a:solidFill>
              <a:latin typeface="Calibri"/>
              <a:ea typeface="Calibri"/>
              <a:cs typeface="Calibri"/>
              <a:sym typeface="Calibri"/>
            </a:endParaRPr>
          </a:p>
          <a:p>
            <a:pPr indent="0" lvl="0" marL="0" rtl="0" algn="just">
              <a:lnSpc>
                <a:spcPct val="115000"/>
              </a:lnSpc>
              <a:spcBef>
                <a:spcPts val="0"/>
              </a:spcBef>
              <a:spcAft>
                <a:spcPts val="0"/>
              </a:spcAft>
              <a:buClr>
                <a:schemeClr val="dk1"/>
              </a:buClr>
              <a:buSzPts val="1100"/>
              <a:buFont typeface="Arial"/>
              <a:buNone/>
            </a:pPr>
            <a:r>
              <a:t/>
            </a:r>
            <a:endParaRPr sz="3000">
              <a:solidFill>
                <a:schemeClr val="dk1"/>
              </a:solidFill>
              <a:latin typeface="Calibri"/>
              <a:ea typeface="Calibri"/>
              <a:cs typeface="Calibri"/>
              <a:sym typeface="Calibri"/>
            </a:endParaRPr>
          </a:p>
          <a:p>
            <a:pPr indent="0" lvl="0" marL="0" rtl="0" algn="just">
              <a:lnSpc>
                <a:spcPct val="115000"/>
              </a:lnSpc>
              <a:spcBef>
                <a:spcPts val="0"/>
              </a:spcBef>
              <a:spcAft>
                <a:spcPts val="0"/>
              </a:spcAft>
              <a:buClr>
                <a:schemeClr val="dk1"/>
              </a:buClr>
              <a:buSzPts val="1100"/>
              <a:buFont typeface="Arial"/>
              <a:buNone/>
            </a:pPr>
            <a:r>
              <a:t/>
            </a:r>
            <a:endParaRPr sz="3000">
              <a:solidFill>
                <a:schemeClr val="dk1"/>
              </a:solidFill>
              <a:latin typeface="Calibri"/>
              <a:ea typeface="Calibri"/>
              <a:cs typeface="Calibri"/>
              <a:sym typeface="Calibri"/>
            </a:endParaRPr>
          </a:p>
          <a:p>
            <a:pPr indent="0" lvl="0" marL="0" rtl="0" algn="just">
              <a:lnSpc>
                <a:spcPct val="115000"/>
              </a:lnSpc>
              <a:spcBef>
                <a:spcPts val="0"/>
              </a:spcBef>
              <a:spcAft>
                <a:spcPts val="0"/>
              </a:spcAft>
              <a:buClr>
                <a:schemeClr val="dk1"/>
              </a:buClr>
              <a:buSzPts val="1100"/>
              <a:buFont typeface="Arial"/>
              <a:buNone/>
            </a:pPr>
            <a:r>
              <a:t/>
            </a:r>
            <a:endParaRPr sz="3000">
              <a:solidFill>
                <a:schemeClr val="dk1"/>
              </a:solidFill>
              <a:latin typeface="Calibri"/>
              <a:ea typeface="Calibri"/>
              <a:cs typeface="Calibri"/>
              <a:sym typeface="Calibri"/>
            </a:endParaRPr>
          </a:p>
          <a:p>
            <a:pPr indent="0" lvl="0" marL="0" rtl="0" algn="just">
              <a:lnSpc>
                <a:spcPct val="115000"/>
              </a:lnSpc>
              <a:spcBef>
                <a:spcPts val="0"/>
              </a:spcBef>
              <a:spcAft>
                <a:spcPts val="0"/>
              </a:spcAft>
              <a:buClr>
                <a:schemeClr val="dk1"/>
              </a:buClr>
              <a:buSzPts val="1100"/>
              <a:buFont typeface="Arial"/>
              <a:buNone/>
            </a:pPr>
            <a:r>
              <a:rPr lang="en" sz="2800">
                <a:solidFill>
                  <a:schemeClr val="dk1"/>
                </a:solidFill>
                <a:latin typeface="Calibri"/>
                <a:ea typeface="Calibri"/>
                <a:cs typeface="Calibri"/>
                <a:sym typeface="Calibri"/>
              </a:rPr>
              <a:t>SARSA’s bootstrap expression Q(s</a:t>
            </a:r>
            <a:r>
              <a:rPr baseline="-25000" lang="en" sz="2800">
                <a:solidFill>
                  <a:schemeClr val="dk1"/>
                </a:solidFill>
                <a:latin typeface="Calibri"/>
                <a:ea typeface="Calibri"/>
                <a:cs typeface="Calibri"/>
                <a:sym typeface="Calibri"/>
              </a:rPr>
              <a:t>t+1</a:t>
            </a:r>
            <a:r>
              <a:rPr lang="en" sz="2800">
                <a:solidFill>
                  <a:schemeClr val="dk1"/>
                </a:solidFill>
                <a:latin typeface="Calibri"/>
                <a:ea typeface="Calibri"/>
                <a:cs typeface="Calibri"/>
                <a:sym typeface="Calibri"/>
              </a:rPr>
              <a:t>,a</a:t>
            </a:r>
            <a:r>
              <a:rPr baseline="-25000" lang="en" sz="2800">
                <a:solidFill>
                  <a:schemeClr val="dk1"/>
                </a:solidFill>
                <a:latin typeface="Calibri"/>
                <a:ea typeface="Calibri"/>
                <a:cs typeface="Calibri"/>
                <a:sym typeface="Calibri"/>
              </a:rPr>
              <a:t>t+1</a:t>
            </a:r>
            <a:r>
              <a:rPr lang="en" sz="2800">
                <a:solidFill>
                  <a:schemeClr val="dk1"/>
                </a:solidFill>
                <a:latin typeface="Calibri"/>
                <a:ea typeface="Calibri"/>
                <a:cs typeface="Calibri"/>
                <a:sym typeface="Calibri"/>
              </a:rPr>
              <a:t>) accounts for the action actually taken by the agent. The given action at any state follows the ε-greedy rule, where exploitation happens with probability 1-ε, while exploration happens with probability ε. Therefore, SARSA’s bootstrap expression basically equates to QL’s max operator when it exploits, but differs when it explores.</a:t>
            </a:r>
            <a:endParaRPr sz="2800">
              <a:solidFill>
                <a:schemeClr val="dk1"/>
              </a:solidFill>
              <a:latin typeface="Calibri"/>
              <a:ea typeface="Calibri"/>
              <a:cs typeface="Calibri"/>
              <a:sym typeface="Calibri"/>
            </a:endParaRPr>
          </a:p>
          <a:p>
            <a:pPr indent="0" lvl="0" marL="0" rtl="0" algn="just">
              <a:lnSpc>
                <a:spcPct val="115000"/>
              </a:lnSpc>
              <a:spcBef>
                <a:spcPts val="0"/>
              </a:spcBef>
              <a:spcAft>
                <a:spcPts val="0"/>
              </a:spcAft>
              <a:buClr>
                <a:schemeClr val="dk1"/>
              </a:buClr>
              <a:buSzPts val="1100"/>
              <a:buFont typeface="Arial"/>
              <a:buNone/>
            </a:pPr>
            <a:r>
              <a:t/>
            </a:r>
            <a:endParaRPr sz="2800">
              <a:solidFill>
                <a:schemeClr val="dk1"/>
              </a:solidFill>
              <a:latin typeface="Calibri"/>
              <a:ea typeface="Calibri"/>
              <a:cs typeface="Calibri"/>
              <a:sym typeface="Calibri"/>
            </a:endParaRPr>
          </a:p>
          <a:p>
            <a:pPr indent="0" lvl="0" marL="0" rtl="0" algn="just">
              <a:lnSpc>
                <a:spcPct val="115000"/>
              </a:lnSpc>
              <a:spcBef>
                <a:spcPts val="0"/>
              </a:spcBef>
              <a:spcAft>
                <a:spcPts val="0"/>
              </a:spcAft>
              <a:buClr>
                <a:schemeClr val="dk1"/>
              </a:buClr>
              <a:buSzPts val="1100"/>
              <a:buFont typeface="Arial"/>
              <a:buNone/>
            </a:pPr>
            <a:r>
              <a:rPr lang="en" sz="2800">
                <a:solidFill>
                  <a:schemeClr val="dk1"/>
                </a:solidFill>
                <a:latin typeface="Calibri"/>
                <a:ea typeface="Calibri"/>
                <a:cs typeface="Calibri"/>
                <a:sym typeface="Calibri"/>
              </a:rPr>
              <a:t>SARSA can be said to account for the possibility of exploration. Since it makes sure to consider the true underlying ε-greedy rule instead of ignoring it, I characterize it as ‘cautious’.</a:t>
            </a:r>
            <a:endParaRPr sz="2800">
              <a:solidFill>
                <a:schemeClr val="dk1"/>
              </a:solidFill>
              <a:latin typeface="Calibri"/>
              <a:ea typeface="Calibri"/>
              <a:cs typeface="Calibri"/>
              <a:sym typeface="Calibri"/>
            </a:endParaRPr>
          </a:p>
          <a:p>
            <a:pPr indent="0" lvl="0" marL="0" rtl="0" algn="just">
              <a:lnSpc>
                <a:spcPct val="115000"/>
              </a:lnSpc>
              <a:spcBef>
                <a:spcPts val="0"/>
              </a:spcBef>
              <a:spcAft>
                <a:spcPts val="0"/>
              </a:spcAft>
              <a:buClr>
                <a:schemeClr val="dk1"/>
              </a:buClr>
              <a:buSzPts val="1100"/>
              <a:buFont typeface="Arial"/>
              <a:buNone/>
            </a:pPr>
            <a:r>
              <a:t/>
            </a:r>
            <a:endParaRPr sz="3000">
              <a:solidFill>
                <a:schemeClr val="dk1"/>
              </a:solidFill>
              <a:latin typeface="Calibri"/>
              <a:ea typeface="Calibri"/>
              <a:cs typeface="Calibri"/>
              <a:sym typeface="Calibri"/>
            </a:endParaRPr>
          </a:p>
          <a:p>
            <a:pPr indent="0" lvl="0" marL="0" rtl="0" algn="just">
              <a:lnSpc>
                <a:spcPct val="115000"/>
              </a:lnSpc>
              <a:spcBef>
                <a:spcPts val="0"/>
              </a:spcBef>
              <a:spcAft>
                <a:spcPts val="0"/>
              </a:spcAft>
              <a:buClr>
                <a:srgbClr val="000000"/>
              </a:buClr>
              <a:buSzPts val="1100"/>
              <a:buFont typeface="Arial"/>
              <a:buNone/>
            </a:pPr>
            <a:r>
              <a:t/>
            </a:r>
            <a:endParaRPr sz="3000">
              <a:solidFill>
                <a:schemeClr val="dk1"/>
              </a:solidFill>
              <a:latin typeface="Calibri"/>
              <a:ea typeface="Calibri"/>
              <a:cs typeface="Calibri"/>
              <a:sym typeface="Calibri"/>
            </a:endParaRPr>
          </a:p>
        </p:txBody>
      </p:sp>
      <p:sp>
        <p:nvSpPr>
          <p:cNvPr id="83" name="Google Shape;83;p13"/>
          <p:cNvSpPr/>
          <p:nvPr/>
        </p:nvSpPr>
        <p:spPr>
          <a:xfrm>
            <a:off x="33604200" y="48463200"/>
            <a:ext cx="96012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100"/>
          </a:p>
        </p:txBody>
      </p:sp>
      <p:sp>
        <p:nvSpPr>
          <p:cNvPr id="84" name="Google Shape;84;p13"/>
          <p:cNvSpPr/>
          <p:nvPr/>
        </p:nvSpPr>
        <p:spPr>
          <a:xfrm>
            <a:off x="33604200" y="47548800"/>
            <a:ext cx="9601200" cy="914400"/>
          </a:xfrm>
          <a:prstGeom prst="rect">
            <a:avLst/>
          </a:prstGeom>
          <a:solidFill>
            <a:srgbClr val="3D85C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5000">
                <a:solidFill>
                  <a:srgbClr val="FFFFFF"/>
                </a:solidFill>
                <a:latin typeface="Comfortaa"/>
                <a:ea typeface="Comfortaa"/>
                <a:cs typeface="Comfortaa"/>
                <a:sym typeface="Comfortaa"/>
              </a:rPr>
              <a:t>BIBLIOGRAPHY</a:t>
            </a:r>
            <a:endParaRPr b="1" sz="5000">
              <a:solidFill>
                <a:srgbClr val="FFFFFF"/>
              </a:solidFill>
              <a:latin typeface="Comfortaa"/>
              <a:ea typeface="Comfortaa"/>
              <a:cs typeface="Comfortaa"/>
              <a:sym typeface="Comfortaa"/>
            </a:endParaRPr>
          </a:p>
        </p:txBody>
      </p:sp>
      <p:sp>
        <p:nvSpPr>
          <p:cNvPr id="85" name="Google Shape;85;p13"/>
          <p:cNvSpPr txBox="1"/>
          <p:nvPr/>
        </p:nvSpPr>
        <p:spPr>
          <a:xfrm>
            <a:off x="33844250" y="48508153"/>
            <a:ext cx="9163500" cy="8184600"/>
          </a:xfrm>
          <a:prstGeom prst="rect">
            <a:avLst/>
          </a:prstGeom>
          <a:noFill/>
          <a:ln>
            <a:noFill/>
          </a:ln>
        </p:spPr>
        <p:txBody>
          <a:bodyPr anchorCtr="0" anchor="t" bIns="91425" lIns="91425" spcFirstLastPara="1" rIns="91425" wrap="square" tIns="91425">
            <a:noAutofit/>
          </a:bodyPr>
          <a:lstStyle/>
          <a:p>
            <a:pPr indent="-301625" lvl="0" marL="457200" rtl="0" algn="l">
              <a:lnSpc>
                <a:spcPct val="107916"/>
              </a:lnSpc>
              <a:spcBef>
                <a:spcPts val="0"/>
              </a:spcBef>
              <a:spcAft>
                <a:spcPts val="0"/>
              </a:spcAft>
              <a:buSzPts val="1150"/>
              <a:buFont typeface="Times New Roman"/>
              <a:buAutoNum type="arabicPeriod"/>
            </a:pPr>
            <a:r>
              <a:rPr lang="en" sz="1150">
                <a:latin typeface="Times New Roman"/>
                <a:ea typeface="Times New Roman"/>
                <a:cs typeface="Times New Roman"/>
                <a:sym typeface="Times New Roman"/>
              </a:rPr>
              <a:t>International Rules for Pre-college Science Research. Society for Science and the Public. Accessed from: https://sspcdn.blob.core.windows.net/files/Documents/SEP/ISEF/2023/Rules/Book.pdf.</a:t>
            </a:r>
            <a:endParaRPr sz="1150">
              <a:latin typeface="Times New Roman"/>
              <a:ea typeface="Times New Roman"/>
              <a:cs typeface="Times New Roman"/>
              <a:sym typeface="Times New Roman"/>
            </a:endParaRPr>
          </a:p>
          <a:p>
            <a:pPr indent="-301625" lvl="0" marL="457200" rtl="0" algn="l">
              <a:lnSpc>
                <a:spcPct val="107916"/>
              </a:lnSpc>
              <a:spcBef>
                <a:spcPts val="0"/>
              </a:spcBef>
              <a:spcAft>
                <a:spcPts val="0"/>
              </a:spcAft>
              <a:buSzPts val="1150"/>
              <a:buFont typeface="Times New Roman"/>
              <a:buAutoNum type="arabicPeriod"/>
            </a:pPr>
            <a:r>
              <a:rPr lang="en" sz="1150">
                <a:latin typeface="Times New Roman"/>
                <a:ea typeface="Times New Roman"/>
                <a:cs typeface="Times New Roman"/>
                <a:sym typeface="Times New Roman"/>
              </a:rPr>
              <a:t>State Science and Engineering Fair of Florida 2024-52 Rules Supplement from: https://ozd215.a2cdn1.secureserver.net/wp-content/uploads/2022/08/SSEF-Rules-Supplement_2022_23.pdf </a:t>
            </a:r>
            <a:endParaRPr sz="1150">
              <a:latin typeface="Times New Roman"/>
              <a:ea typeface="Times New Roman"/>
              <a:cs typeface="Times New Roman"/>
              <a:sym typeface="Times New Roman"/>
            </a:endParaRPr>
          </a:p>
          <a:p>
            <a:pPr indent="-301625" lvl="0" marL="457200" rtl="0" algn="l">
              <a:lnSpc>
                <a:spcPct val="107916"/>
              </a:lnSpc>
              <a:spcBef>
                <a:spcPts val="0"/>
              </a:spcBef>
              <a:spcAft>
                <a:spcPts val="0"/>
              </a:spcAft>
              <a:buSzPts val="1150"/>
              <a:buFont typeface="Times New Roman"/>
              <a:buAutoNum type="arabicPeriod"/>
            </a:pPr>
            <a:r>
              <a:rPr lang="en" sz="1150">
                <a:latin typeface="Times New Roman"/>
                <a:ea typeface="Times New Roman"/>
                <a:cs typeface="Times New Roman"/>
                <a:sym typeface="Times New Roman"/>
              </a:rPr>
              <a:t>B. Jang, M. Kim, G. Harerimana and J. W. Kim, "Q-Learning Algorithms: A Comprehensive Classification and Applications," in IEEE Access, vol. 7, pp. 133653-133667, 2019, doi: 10.1109/ACCESS.2019.2941229. Accessed 14 Dec. 2024.</a:t>
            </a:r>
            <a:endParaRPr sz="1150">
              <a:latin typeface="Times New Roman"/>
              <a:ea typeface="Times New Roman"/>
              <a:cs typeface="Times New Roman"/>
              <a:sym typeface="Times New Roman"/>
            </a:endParaRPr>
          </a:p>
          <a:p>
            <a:pPr indent="-301625" lvl="0" marL="457200" rtl="0" algn="l">
              <a:lnSpc>
                <a:spcPct val="107916"/>
              </a:lnSpc>
              <a:spcBef>
                <a:spcPts val="0"/>
              </a:spcBef>
              <a:spcAft>
                <a:spcPts val="0"/>
              </a:spcAft>
              <a:buSzPts val="1150"/>
              <a:buFont typeface="Times New Roman"/>
              <a:buAutoNum type="arabicPeriod"/>
            </a:pPr>
            <a:r>
              <a:rPr lang="en" sz="1150">
                <a:latin typeface="Times New Roman"/>
                <a:ea typeface="Times New Roman"/>
                <a:cs typeface="Times New Roman"/>
                <a:sym typeface="Times New Roman"/>
              </a:rPr>
              <a:t>Bisong, Ekaba. "Google Colaboratory", Springerlink, 28 Sept 2019, link.springer.com/chapter/10.1007/978-1-4842-4470-8_7. Accessed 27 Nov 2023.</a:t>
            </a:r>
            <a:endParaRPr sz="1150">
              <a:latin typeface="Times New Roman"/>
              <a:ea typeface="Times New Roman"/>
              <a:cs typeface="Times New Roman"/>
              <a:sym typeface="Times New Roman"/>
            </a:endParaRPr>
          </a:p>
          <a:p>
            <a:pPr indent="-301625" lvl="0" marL="457200" rtl="0" algn="l">
              <a:lnSpc>
                <a:spcPct val="107916"/>
              </a:lnSpc>
              <a:spcBef>
                <a:spcPts val="0"/>
              </a:spcBef>
              <a:spcAft>
                <a:spcPts val="0"/>
              </a:spcAft>
              <a:buSzPts val="1150"/>
              <a:buFont typeface="Times New Roman"/>
              <a:buAutoNum type="arabicPeriod"/>
            </a:pPr>
            <a:r>
              <a:rPr lang="en" sz="1150">
                <a:latin typeface="Times New Roman"/>
                <a:ea typeface="Times New Roman"/>
                <a:cs typeface="Times New Roman"/>
                <a:sym typeface="Times New Roman"/>
              </a:rPr>
              <a:t>Brockman, Greg, et al. "OpenAI Gym", Arxix, Cornell University, 5 Jun 2016, doi.org/10.48550/arXiv.1606.01540. Accessed 27 Nov 2023.</a:t>
            </a:r>
            <a:endParaRPr sz="1150">
              <a:latin typeface="Times New Roman"/>
              <a:ea typeface="Times New Roman"/>
              <a:cs typeface="Times New Roman"/>
              <a:sym typeface="Times New Roman"/>
            </a:endParaRPr>
          </a:p>
          <a:p>
            <a:pPr indent="-301625" lvl="0" marL="457200" rtl="0" algn="l">
              <a:lnSpc>
                <a:spcPct val="107916"/>
              </a:lnSpc>
              <a:spcBef>
                <a:spcPts val="0"/>
              </a:spcBef>
              <a:spcAft>
                <a:spcPts val="0"/>
              </a:spcAft>
              <a:buSzPts val="1150"/>
              <a:buFont typeface="Times New Roman"/>
              <a:buAutoNum type="arabicPeriod"/>
            </a:pPr>
            <a:r>
              <a:rPr lang="en" sz="1150">
                <a:latin typeface="Times New Roman"/>
                <a:ea typeface="Times New Roman"/>
                <a:cs typeface="Times New Roman"/>
                <a:sym typeface="Times New Roman"/>
              </a:rPr>
              <a:t>Clifton, Jesse &amp; Laber, Eric. "Q-Learning: Theory and Applications", Annual Review of Statistics and Its Application, Annual Reviews, Mar 2020, doi.org/10.1146/annurev-statistics-031219-041220. Accessed 27 Nov 2023.</a:t>
            </a:r>
            <a:endParaRPr sz="1150">
              <a:latin typeface="Times New Roman"/>
              <a:ea typeface="Times New Roman"/>
              <a:cs typeface="Times New Roman"/>
              <a:sym typeface="Times New Roman"/>
            </a:endParaRPr>
          </a:p>
          <a:p>
            <a:pPr indent="-301625" lvl="0" marL="457200" rtl="0" algn="l">
              <a:lnSpc>
                <a:spcPct val="107916"/>
              </a:lnSpc>
              <a:spcBef>
                <a:spcPts val="0"/>
              </a:spcBef>
              <a:spcAft>
                <a:spcPts val="0"/>
              </a:spcAft>
              <a:buSzPts val="1150"/>
              <a:buFont typeface="Times New Roman"/>
              <a:buAutoNum type="arabicPeriod"/>
            </a:pPr>
            <a:r>
              <a:rPr lang="en" sz="1150">
                <a:latin typeface="Times New Roman"/>
                <a:ea typeface="Times New Roman"/>
                <a:cs typeface="Times New Roman"/>
                <a:sym typeface="Times New Roman"/>
              </a:rPr>
              <a:t>Corazza, Marco , and Andrea Sangalli. "Q-Learning and SARSA: A Comparison between Two Intelligent Stochastic Control Approaches for Financial Trading." Social Science Research Network, 17 Jun. 2015, papers.ssrn.com/sol3/papers.cfm?abstract_id=2617630. Accessed 26 Nov. 2024.</a:t>
            </a:r>
            <a:endParaRPr sz="1150">
              <a:latin typeface="Times New Roman"/>
              <a:ea typeface="Times New Roman"/>
              <a:cs typeface="Times New Roman"/>
              <a:sym typeface="Times New Roman"/>
            </a:endParaRPr>
          </a:p>
          <a:p>
            <a:pPr indent="-301625" lvl="0" marL="457200" rtl="0" algn="l">
              <a:lnSpc>
                <a:spcPct val="107916"/>
              </a:lnSpc>
              <a:spcBef>
                <a:spcPts val="0"/>
              </a:spcBef>
              <a:spcAft>
                <a:spcPts val="0"/>
              </a:spcAft>
              <a:buSzPts val="1150"/>
              <a:buFont typeface="Times New Roman"/>
              <a:buAutoNum type="arabicPeriod"/>
            </a:pPr>
            <a:r>
              <a:rPr lang="en" sz="1150">
                <a:latin typeface="Times New Roman"/>
                <a:ea typeface="Times New Roman"/>
                <a:cs typeface="Times New Roman"/>
                <a:sym typeface="Times New Roman"/>
              </a:rPr>
              <a:t>D'Amato, Leo. "SimpleGrid: Simple Grid Environment for Gymnasium." Github, 14 Apr. 2022, github.com/damat-le/gym-simplegrid/commits?author=damat-le. Accessed 8 Nov. 2024.</a:t>
            </a:r>
            <a:endParaRPr sz="1150">
              <a:latin typeface="Times New Roman"/>
              <a:ea typeface="Times New Roman"/>
              <a:cs typeface="Times New Roman"/>
              <a:sym typeface="Times New Roman"/>
            </a:endParaRPr>
          </a:p>
          <a:p>
            <a:pPr indent="-301625" lvl="0" marL="457200" rtl="0" algn="l">
              <a:lnSpc>
                <a:spcPct val="107916"/>
              </a:lnSpc>
              <a:spcBef>
                <a:spcPts val="0"/>
              </a:spcBef>
              <a:spcAft>
                <a:spcPts val="0"/>
              </a:spcAft>
              <a:buSzPts val="1150"/>
              <a:buFont typeface="Times New Roman"/>
              <a:buAutoNum type="arabicPeriod"/>
            </a:pPr>
            <a:r>
              <a:rPr lang="en" sz="1150">
                <a:latin typeface="Times New Roman"/>
                <a:ea typeface="Times New Roman"/>
                <a:cs typeface="Times New Roman"/>
                <a:sym typeface="Times New Roman"/>
              </a:rPr>
              <a:t>Garí , Yisel, et al. "Online RL-based Cloud Autoscaling for Scientific Workflows: Evaluation of Q-Learning and SARSA." ScienceDirect, 15 Apr. 2024, www.sciencedirect.com/science/article/pii/S0167739X24001432. Accessed 2 Dec. 2024.</a:t>
            </a:r>
            <a:endParaRPr sz="1150">
              <a:latin typeface="Times New Roman"/>
              <a:ea typeface="Times New Roman"/>
              <a:cs typeface="Times New Roman"/>
              <a:sym typeface="Times New Roman"/>
            </a:endParaRPr>
          </a:p>
          <a:p>
            <a:pPr indent="-301625" lvl="0" marL="457200" rtl="0" algn="l">
              <a:lnSpc>
                <a:spcPct val="107916"/>
              </a:lnSpc>
              <a:spcBef>
                <a:spcPts val="0"/>
              </a:spcBef>
              <a:spcAft>
                <a:spcPts val="0"/>
              </a:spcAft>
              <a:buSzPts val="1150"/>
              <a:buFont typeface="Times New Roman"/>
              <a:buAutoNum type="arabicPeriod"/>
            </a:pPr>
            <a:r>
              <a:rPr lang="en" sz="1150">
                <a:latin typeface="Times New Roman"/>
                <a:ea typeface="Times New Roman"/>
                <a:cs typeface="Times New Roman"/>
                <a:sym typeface="Times New Roman"/>
              </a:rPr>
              <a:t>I. Zaghbani, R. Jarray and S. Bouallègue, "Comparative Study of Q-Learning and SARSA Algorithms for UAV Path Planning in 3D Environments," 2024 IEEE 28th International Conference on Intelligent Engineering Systems (INES), Gammarth, Tunisia, 2024, pp. 000245-000250, doi: 10.1109/INES63318.2024.10629124. Accessed Dec 14. 2024.</a:t>
            </a:r>
            <a:endParaRPr sz="1150">
              <a:latin typeface="Times New Roman"/>
              <a:ea typeface="Times New Roman"/>
              <a:cs typeface="Times New Roman"/>
              <a:sym typeface="Times New Roman"/>
            </a:endParaRPr>
          </a:p>
          <a:p>
            <a:pPr indent="-301625" lvl="0" marL="457200" rtl="0" algn="l">
              <a:lnSpc>
                <a:spcPct val="107916"/>
              </a:lnSpc>
              <a:spcBef>
                <a:spcPts val="0"/>
              </a:spcBef>
              <a:spcAft>
                <a:spcPts val="0"/>
              </a:spcAft>
              <a:buSzPts val="1150"/>
              <a:buFont typeface="Times New Roman"/>
              <a:buAutoNum type="arabicPeriod"/>
            </a:pPr>
            <a:r>
              <a:rPr lang="en" sz="1150">
                <a:latin typeface="Times New Roman"/>
                <a:ea typeface="Times New Roman"/>
                <a:cs typeface="Times New Roman"/>
                <a:sym typeface="Times New Roman"/>
              </a:rPr>
              <a:t>Jin, Z., Ma, M., Zhang, S., Hu, Y., Zhang, Y., &amp; Sun, C. (2022). Secure State Estimation of Cyber-Physical System under Cyber Attacks: Q-Learning vs. SARSA. Electronics, 11(19), 3161. https://doi.org/10.3390/electronics11193161 Accessed 14 Dec. 2024.</a:t>
            </a:r>
            <a:endParaRPr sz="1150">
              <a:latin typeface="Times New Roman"/>
              <a:ea typeface="Times New Roman"/>
              <a:cs typeface="Times New Roman"/>
              <a:sym typeface="Times New Roman"/>
            </a:endParaRPr>
          </a:p>
          <a:p>
            <a:pPr indent="-301625" lvl="0" marL="457200" rtl="0" algn="l">
              <a:lnSpc>
                <a:spcPct val="107916"/>
              </a:lnSpc>
              <a:spcBef>
                <a:spcPts val="0"/>
              </a:spcBef>
              <a:spcAft>
                <a:spcPts val="0"/>
              </a:spcAft>
              <a:buSzPts val="1150"/>
              <a:buFont typeface="Times New Roman"/>
              <a:buAutoNum type="arabicPeriod"/>
            </a:pPr>
            <a:r>
              <a:rPr lang="en" sz="1150">
                <a:latin typeface="Times New Roman"/>
                <a:ea typeface="Times New Roman"/>
                <a:cs typeface="Times New Roman"/>
                <a:sym typeface="Times New Roman"/>
              </a:rPr>
              <a:t>Morales, Miguel. Grokking Deep Reinforcement Learning. Manning, 2020.</a:t>
            </a:r>
            <a:endParaRPr sz="1150">
              <a:latin typeface="Times New Roman"/>
              <a:ea typeface="Times New Roman"/>
              <a:cs typeface="Times New Roman"/>
              <a:sym typeface="Times New Roman"/>
            </a:endParaRPr>
          </a:p>
          <a:p>
            <a:pPr indent="-301625" lvl="0" marL="457200" rtl="0" algn="l">
              <a:lnSpc>
                <a:spcPct val="107916"/>
              </a:lnSpc>
              <a:spcBef>
                <a:spcPts val="0"/>
              </a:spcBef>
              <a:spcAft>
                <a:spcPts val="0"/>
              </a:spcAft>
              <a:buSzPts val="1150"/>
              <a:buFont typeface="Times New Roman"/>
              <a:buAutoNum type="arabicPeriod"/>
            </a:pPr>
            <a:r>
              <a:rPr lang="en" sz="1150">
                <a:latin typeface="Times New Roman"/>
                <a:ea typeface="Times New Roman"/>
                <a:cs typeface="Times New Roman"/>
                <a:sym typeface="Times New Roman"/>
              </a:rPr>
              <a:t>Moreira, Christian M., and Georges Kaddoum. "QL Vs. SARSA: Performance Evaluation for Intrusion Prevention Systems in Software-Defined IoT Networks." IEEE Xplore, 21 Jul. 2023, ieeexplore.ieee.org/document/10183144. Accessed 14 Dec. 2024.</a:t>
            </a:r>
            <a:endParaRPr sz="1150">
              <a:latin typeface="Times New Roman"/>
              <a:ea typeface="Times New Roman"/>
              <a:cs typeface="Times New Roman"/>
              <a:sym typeface="Times New Roman"/>
            </a:endParaRPr>
          </a:p>
          <a:p>
            <a:pPr indent="-301625" lvl="0" marL="457200" rtl="0" algn="l">
              <a:lnSpc>
                <a:spcPct val="107916"/>
              </a:lnSpc>
              <a:spcBef>
                <a:spcPts val="0"/>
              </a:spcBef>
              <a:spcAft>
                <a:spcPts val="0"/>
              </a:spcAft>
              <a:buSzPts val="1150"/>
              <a:buFont typeface="Times New Roman"/>
              <a:buAutoNum type="arabicPeriod"/>
            </a:pPr>
            <a:r>
              <a:rPr lang="en" sz="1150">
                <a:latin typeface="Times New Roman"/>
                <a:ea typeface="Times New Roman"/>
                <a:cs typeface="Times New Roman"/>
                <a:sym typeface="Times New Roman"/>
              </a:rPr>
              <a:t>Niranjan, Mahesan. "SimpleGrid: Simple Grid Environment for Gymnasium." ResearchGate, 1 Nov. 1994, www.researchgate.net/publication/2500611_On-Line_Q-Learning_Using_Connectionist_Systems. Accessed 16 Nov. 2024.</a:t>
            </a:r>
            <a:endParaRPr sz="1150">
              <a:latin typeface="Times New Roman"/>
              <a:ea typeface="Times New Roman"/>
              <a:cs typeface="Times New Roman"/>
              <a:sym typeface="Times New Roman"/>
            </a:endParaRPr>
          </a:p>
          <a:p>
            <a:pPr indent="-301625" lvl="0" marL="457200" rtl="0" algn="l">
              <a:lnSpc>
                <a:spcPct val="107916"/>
              </a:lnSpc>
              <a:spcBef>
                <a:spcPts val="0"/>
              </a:spcBef>
              <a:spcAft>
                <a:spcPts val="0"/>
              </a:spcAft>
              <a:buSzPts val="1150"/>
              <a:buFont typeface="Times New Roman"/>
              <a:buAutoNum type="arabicPeriod"/>
            </a:pPr>
            <a:r>
              <a:rPr lang="en" sz="1150">
                <a:latin typeface="Times New Roman"/>
                <a:ea typeface="Times New Roman"/>
                <a:cs typeface="Times New Roman"/>
                <a:sym typeface="Times New Roman"/>
              </a:rPr>
              <a:t>Sewak, M. (2019). Temporal Difference Learning, SARSA, and Q-Learning. In: Deep Reinforcement Learning. Springer, Singapore. https://doi.org/10.1007/978-981-13-8285-7_4 Accessed 30 Oct. 2024.</a:t>
            </a:r>
            <a:endParaRPr sz="1150">
              <a:latin typeface="Times New Roman"/>
              <a:ea typeface="Times New Roman"/>
              <a:cs typeface="Times New Roman"/>
              <a:sym typeface="Times New Roman"/>
            </a:endParaRPr>
          </a:p>
          <a:p>
            <a:pPr indent="-301625" lvl="0" marL="457200" rtl="0" algn="l">
              <a:lnSpc>
                <a:spcPct val="107916"/>
              </a:lnSpc>
              <a:spcBef>
                <a:spcPts val="0"/>
              </a:spcBef>
              <a:spcAft>
                <a:spcPts val="0"/>
              </a:spcAft>
              <a:buSzPts val="1150"/>
              <a:buFont typeface="Times New Roman"/>
              <a:buAutoNum type="arabicPeriod"/>
            </a:pPr>
            <a:r>
              <a:rPr lang="en" sz="1150">
                <a:latin typeface="Times New Roman"/>
                <a:ea typeface="Times New Roman"/>
                <a:cs typeface="Times New Roman"/>
                <a:sym typeface="Times New Roman"/>
              </a:rPr>
              <a:t>Sutton, Richard S., and Andrew Barto. Reinforcement Learning: An Introduction. -2nd ed., MIT Press, 2012.</a:t>
            </a:r>
            <a:endParaRPr sz="1150">
              <a:latin typeface="Times New Roman"/>
              <a:ea typeface="Times New Roman"/>
              <a:cs typeface="Times New Roman"/>
              <a:sym typeface="Times New Roman"/>
            </a:endParaRPr>
          </a:p>
          <a:p>
            <a:pPr indent="-301625" lvl="0" marL="457200" rtl="0" algn="l">
              <a:lnSpc>
                <a:spcPct val="107916"/>
              </a:lnSpc>
              <a:spcBef>
                <a:spcPts val="0"/>
              </a:spcBef>
              <a:spcAft>
                <a:spcPts val="0"/>
              </a:spcAft>
              <a:buSzPts val="1150"/>
              <a:buFont typeface="Times New Roman"/>
              <a:buAutoNum type="arabicPeriod"/>
            </a:pPr>
            <a:r>
              <a:rPr lang="en" sz="1150">
                <a:latin typeface="Times New Roman"/>
                <a:ea typeface="Times New Roman"/>
                <a:cs typeface="Times New Roman"/>
                <a:sym typeface="Times New Roman"/>
              </a:rPr>
              <a:t>Takadama, Keiki and Hironori Fujita. “Lessons Learned from Comparison Between Q-learning and Sarsa Agents in Bargaining Game.” (2004) Accessed 14 Dec. 2024.</a:t>
            </a:r>
            <a:endParaRPr sz="1150">
              <a:latin typeface="Times New Roman"/>
              <a:ea typeface="Times New Roman"/>
              <a:cs typeface="Times New Roman"/>
              <a:sym typeface="Times New Roman"/>
            </a:endParaRPr>
          </a:p>
          <a:p>
            <a:pPr indent="-301625" lvl="0" marL="457200" rtl="0" algn="l">
              <a:lnSpc>
                <a:spcPct val="107916"/>
              </a:lnSpc>
              <a:spcBef>
                <a:spcPts val="0"/>
              </a:spcBef>
              <a:spcAft>
                <a:spcPts val="0"/>
              </a:spcAft>
              <a:buSzPts val="1150"/>
              <a:buFont typeface="Times New Roman"/>
              <a:buAutoNum type="arabicPeriod"/>
            </a:pPr>
            <a:r>
              <a:rPr lang="en" sz="1150">
                <a:latin typeface="Times New Roman"/>
                <a:ea typeface="Times New Roman"/>
                <a:cs typeface="Times New Roman"/>
                <a:sym typeface="Times New Roman"/>
              </a:rPr>
              <a:t>Watkins, Christopher &amp; Dayan, Peter. "Q-learning",  Springerlink, May 1992, link.springer.com/article/10.1007/BF00992698. Accessed 26 Nov 2023.</a:t>
            </a:r>
            <a:endParaRPr sz="1150">
              <a:latin typeface="Times New Roman"/>
              <a:ea typeface="Times New Roman"/>
              <a:cs typeface="Times New Roman"/>
              <a:sym typeface="Times New Roman"/>
            </a:endParaRPr>
          </a:p>
          <a:p>
            <a:pPr indent="-301625" lvl="0" marL="457200" rtl="0" algn="l">
              <a:lnSpc>
                <a:spcPct val="107916"/>
              </a:lnSpc>
              <a:spcBef>
                <a:spcPts val="0"/>
              </a:spcBef>
              <a:spcAft>
                <a:spcPts val="0"/>
              </a:spcAft>
              <a:buSzPts val="1150"/>
              <a:buFont typeface="Times New Roman"/>
              <a:buAutoNum type="arabicPeriod"/>
            </a:pPr>
            <a:r>
              <a:rPr lang="en" sz="1150">
                <a:latin typeface="Times New Roman"/>
                <a:ea typeface="Times New Roman"/>
                <a:cs typeface="Times New Roman"/>
                <a:sym typeface="Times New Roman"/>
              </a:rPr>
              <a:t>Zhong, Lv . Comparison of Q-learning and SARSA Reinforcement Learning Models on Cliff Walking Problem. Atlantis Press, 2017, https://doi.org/10.2991/978-94-6463-370-2_23. pp. 207-213.Accessed 26 Nov. 2024.</a:t>
            </a:r>
            <a:endParaRPr sz="1150">
              <a:latin typeface="Times New Roman"/>
              <a:ea typeface="Times New Roman"/>
              <a:cs typeface="Times New Roman"/>
              <a:sym typeface="Times New Roman"/>
            </a:endParaRPr>
          </a:p>
          <a:p>
            <a:pPr indent="-301625" lvl="0" marL="457200" rtl="0" algn="l">
              <a:lnSpc>
                <a:spcPct val="107916"/>
              </a:lnSpc>
              <a:spcBef>
                <a:spcPts val="0"/>
              </a:spcBef>
              <a:spcAft>
                <a:spcPts val="0"/>
              </a:spcAft>
              <a:buSzPts val="1150"/>
              <a:buFont typeface="Times New Roman"/>
              <a:buAutoNum type="arabicPeriod"/>
            </a:pPr>
            <a:r>
              <a:rPr lang="en" sz="1150">
                <a:latin typeface="Times New Roman"/>
                <a:ea typeface="Times New Roman"/>
                <a:cs typeface="Times New Roman"/>
                <a:sym typeface="Times New Roman"/>
              </a:rPr>
              <a:t>Discrete particle swarm algorithm with Q-Learning for solving flexible job shop scheduling problem with parallel batch processing machine - Scientific Figure on ResearchGate. Available from: https://www.researchgate.net/figure/Pseudo-code-of-DPSO-QL-algorithm-Q-table_fig2_362301845 Accessed 16 Nov. 2024.</a:t>
            </a:r>
            <a:endParaRPr sz="1150">
              <a:latin typeface="Times New Roman"/>
              <a:ea typeface="Times New Roman"/>
              <a:cs typeface="Times New Roman"/>
              <a:sym typeface="Times New Roman"/>
            </a:endParaRPr>
          </a:p>
          <a:p>
            <a:pPr indent="-301625" lvl="0" marL="457200" rtl="0" algn="l">
              <a:lnSpc>
                <a:spcPct val="107916"/>
              </a:lnSpc>
              <a:spcBef>
                <a:spcPts val="0"/>
              </a:spcBef>
              <a:spcAft>
                <a:spcPts val="0"/>
              </a:spcAft>
              <a:buSzPts val="1150"/>
              <a:buFont typeface="Times New Roman"/>
              <a:buAutoNum type="arabicPeriod"/>
            </a:pPr>
            <a:r>
              <a:rPr lang="en" sz="1150">
                <a:latin typeface="Times New Roman"/>
                <a:ea typeface="Times New Roman"/>
                <a:cs typeface="Times New Roman"/>
                <a:sym typeface="Times New Roman"/>
              </a:rPr>
              <a:t>Control of Attitude Dynamics of an Unmanned Aerial Vehicle with Reinforcement Learning Algorithms - Scientific Figure on ResearchGate. Available from: https://www.researchgate.net/figure/Pseudocode-for-Sarsa-learning-algorithm_tbl2_356938291 Accessed 16 Nov. 2024.</a:t>
            </a:r>
            <a:endParaRPr sz="1150">
              <a:latin typeface="Times New Roman"/>
              <a:ea typeface="Times New Roman"/>
              <a:cs typeface="Times New Roman"/>
              <a:sym typeface="Times New Roman"/>
            </a:endParaRPr>
          </a:p>
          <a:p>
            <a:pPr indent="0" lvl="0" marL="0" rtl="0" algn="l">
              <a:lnSpc>
                <a:spcPct val="107916"/>
              </a:lnSpc>
              <a:spcBef>
                <a:spcPts val="0"/>
              </a:spcBef>
              <a:spcAft>
                <a:spcPts val="0"/>
              </a:spcAft>
              <a:buNone/>
            </a:pPr>
            <a:r>
              <a:t/>
            </a:r>
            <a:endParaRPr sz="1150">
              <a:latin typeface="Times New Roman"/>
              <a:ea typeface="Times New Roman"/>
              <a:cs typeface="Times New Roman"/>
              <a:sym typeface="Times New Roman"/>
            </a:endParaRPr>
          </a:p>
        </p:txBody>
      </p:sp>
      <p:sp>
        <p:nvSpPr>
          <p:cNvPr id="86" name="Google Shape;86;p13"/>
          <p:cNvSpPr/>
          <p:nvPr/>
        </p:nvSpPr>
        <p:spPr>
          <a:xfrm>
            <a:off x="685800" y="37490400"/>
            <a:ext cx="9601200" cy="7086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3"/>
          <p:cNvSpPr/>
          <p:nvPr/>
        </p:nvSpPr>
        <p:spPr>
          <a:xfrm>
            <a:off x="1600200" y="45720000"/>
            <a:ext cx="7772400" cy="914400"/>
          </a:xfrm>
          <a:prstGeom prst="rect">
            <a:avLst/>
          </a:prstGeom>
          <a:solidFill>
            <a:srgbClr val="3D85C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 sz="5000">
                <a:solidFill>
                  <a:srgbClr val="FFFFFF"/>
                </a:solidFill>
                <a:latin typeface="Comfortaa"/>
                <a:ea typeface="Comfortaa"/>
                <a:cs typeface="Comfortaa"/>
                <a:sym typeface="Comfortaa"/>
              </a:rPr>
              <a:t>ABSTRACT</a:t>
            </a:r>
            <a:endParaRPr b="1" sz="5000">
              <a:solidFill>
                <a:srgbClr val="FFFFFF"/>
              </a:solidFill>
              <a:latin typeface="Comfortaa"/>
              <a:ea typeface="Comfortaa"/>
              <a:cs typeface="Comfortaa"/>
              <a:sym typeface="Comfortaa"/>
            </a:endParaRPr>
          </a:p>
        </p:txBody>
      </p:sp>
      <p:sp>
        <p:nvSpPr>
          <p:cNvPr id="88" name="Google Shape;88;p13"/>
          <p:cNvSpPr/>
          <p:nvPr/>
        </p:nvSpPr>
        <p:spPr>
          <a:xfrm>
            <a:off x="686087" y="17373600"/>
            <a:ext cx="9601200" cy="914400"/>
          </a:xfrm>
          <a:prstGeom prst="rect">
            <a:avLst/>
          </a:prstGeom>
          <a:solidFill>
            <a:srgbClr val="999999"/>
          </a:solidFill>
          <a:ln cap="flat" cmpd="sng" w="9525">
            <a:solidFill>
              <a:srgbClr val="5B0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4000">
                <a:solidFill>
                  <a:srgbClr val="FFFFFF"/>
                </a:solidFill>
                <a:latin typeface="Comfortaa"/>
                <a:ea typeface="Comfortaa"/>
                <a:cs typeface="Comfortaa"/>
                <a:sym typeface="Comfortaa"/>
              </a:rPr>
              <a:t>Reinforcement Learning</a:t>
            </a:r>
            <a:endParaRPr b="1" sz="4000">
              <a:solidFill>
                <a:srgbClr val="FFFFFF"/>
              </a:solidFill>
              <a:latin typeface="Comfortaa"/>
              <a:ea typeface="Comfortaa"/>
              <a:cs typeface="Comfortaa"/>
              <a:sym typeface="Comfortaa"/>
            </a:endParaRPr>
          </a:p>
        </p:txBody>
      </p:sp>
      <p:sp>
        <p:nvSpPr>
          <p:cNvPr id="89" name="Google Shape;89;p13"/>
          <p:cNvSpPr/>
          <p:nvPr/>
        </p:nvSpPr>
        <p:spPr>
          <a:xfrm>
            <a:off x="22645137" y="42520632"/>
            <a:ext cx="9580200" cy="141633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3"/>
          <p:cNvSpPr/>
          <p:nvPr/>
        </p:nvSpPr>
        <p:spPr>
          <a:xfrm>
            <a:off x="22631400" y="41605200"/>
            <a:ext cx="9601200" cy="913800"/>
          </a:xfrm>
          <a:prstGeom prst="rect">
            <a:avLst/>
          </a:prstGeom>
          <a:solidFill>
            <a:srgbClr val="9999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4000">
                <a:solidFill>
                  <a:srgbClr val="FFFFFF"/>
                </a:solidFill>
                <a:latin typeface="Comfortaa"/>
                <a:ea typeface="Comfortaa"/>
                <a:cs typeface="Comfortaa"/>
                <a:sym typeface="Comfortaa"/>
              </a:rPr>
              <a:t>Exploration - Exploitation Tradeoff</a:t>
            </a:r>
            <a:endParaRPr b="1" sz="4000">
              <a:solidFill>
                <a:srgbClr val="FFFFFF"/>
              </a:solidFill>
              <a:latin typeface="Comfortaa"/>
              <a:ea typeface="Comfortaa"/>
              <a:cs typeface="Comfortaa"/>
              <a:sym typeface="Comfortaa"/>
            </a:endParaRPr>
          </a:p>
        </p:txBody>
      </p:sp>
      <p:sp>
        <p:nvSpPr>
          <p:cNvPr id="91" name="Google Shape;91;p13"/>
          <p:cNvSpPr txBox="1"/>
          <p:nvPr/>
        </p:nvSpPr>
        <p:spPr>
          <a:xfrm>
            <a:off x="23134592" y="42529433"/>
            <a:ext cx="8573700" cy="141633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pPr>
            <a:r>
              <a:t/>
            </a:r>
            <a:endParaRPr sz="1000">
              <a:latin typeface="Calibri"/>
              <a:ea typeface="Calibri"/>
              <a:cs typeface="Calibri"/>
              <a:sym typeface="Calibri"/>
            </a:endParaRPr>
          </a:p>
          <a:p>
            <a:pPr indent="0" lvl="0" marL="0" rtl="0" algn="just">
              <a:lnSpc>
                <a:spcPct val="115000"/>
              </a:lnSpc>
              <a:spcBef>
                <a:spcPts val="0"/>
              </a:spcBef>
              <a:spcAft>
                <a:spcPts val="0"/>
              </a:spcAft>
              <a:buClr>
                <a:schemeClr val="dk1"/>
              </a:buClr>
              <a:buSzPts val="1100"/>
              <a:buFont typeface="Arial"/>
              <a:buNone/>
            </a:pPr>
            <a:r>
              <a:rPr lang="en" sz="2700">
                <a:latin typeface="Calibri"/>
                <a:ea typeface="Calibri"/>
                <a:cs typeface="Calibri"/>
                <a:sym typeface="Calibri"/>
              </a:rPr>
              <a:t>An agent needs to sufficiently explore an environment to gather information and properly estimate Q-values. However, at the same time, exploration is costly, and the end goal of the agent would be to exploit gained knowledge to maximize reward. Then again, an agent can never truly know whether or not it has explored 100% of its environment or whether it may be missing out on some hidden rewards. </a:t>
            </a:r>
            <a:endParaRPr sz="2700">
              <a:latin typeface="Calibri"/>
              <a:ea typeface="Calibri"/>
              <a:cs typeface="Calibri"/>
              <a:sym typeface="Calibri"/>
            </a:endParaRPr>
          </a:p>
          <a:p>
            <a:pPr indent="0" lvl="0" marL="0" rtl="0" algn="just">
              <a:lnSpc>
                <a:spcPct val="115000"/>
              </a:lnSpc>
              <a:spcBef>
                <a:spcPts val="0"/>
              </a:spcBef>
              <a:spcAft>
                <a:spcPts val="0"/>
              </a:spcAft>
              <a:buClr>
                <a:schemeClr val="dk1"/>
              </a:buClr>
              <a:buSzPts val="1100"/>
              <a:buFont typeface="Arial"/>
              <a:buNone/>
            </a:pPr>
            <a:r>
              <a:rPr lang="en" sz="2700">
                <a:latin typeface="Calibri"/>
                <a:ea typeface="Calibri"/>
                <a:cs typeface="Calibri"/>
                <a:sym typeface="Calibri"/>
              </a:rPr>
              <a:t>This dilemma is called the exploration - exploitation tradeoff and RL agents must learn to balance between the two. One basic approach to the tradeoff is to have a constant parameter ε which represents the probability of exploration over exploitation at any given timestep t. In my experiment, I use ε = 0.1, meaning the agent exploits 90% of the time and explores 10%.</a:t>
            </a:r>
            <a:endParaRPr sz="2700">
              <a:latin typeface="Calibri"/>
              <a:ea typeface="Calibri"/>
              <a:cs typeface="Calibri"/>
              <a:sym typeface="Calibri"/>
            </a:endParaRPr>
          </a:p>
          <a:p>
            <a:pPr indent="0" lvl="0" marL="0" rtl="0" algn="just">
              <a:lnSpc>
                <a:spcPct val="115000"/>
              </a:lnSpc>
              <a:spcBef>
                <a:spcPts val="0"/>
              </a:spcBef>
              <a:spcAft>
                <a:spcPts val="0"/>
              </a:spcAft>
              <a:buClr>
                <a:schemeClr val="dk1"/>
              </a:buClr>
              <a:buSzPts val="1100"/>
              <a:buFont typeface="Arial"/>
              <a:buNone/>
            </a:pPr>
            <a:r>
              <a:t/>
            </a:r>
            <a:endParaRPr sz="2700">
              <a:latin typeface="Calibri"/>
              <a:ea typeface="Calibri"/>
              <a:cs typeface="Calibri"/>
              <a:sym typeface="Calibri"/>
            </a:endParaRPr>
          </a:p>
          <a:p>
            <a:pPr indent="0" lvl="0" marL="0" rtl="0" algn="just">
              <a:lnSpc>
                <a:spcPct val="115000"/>
              </a:lnSpc>
              <a:spcBef>
                <a:spcPts val="0"/>
              </a:spcBef>
              <a:spcAft>
                <a:spcPts val="0"/>
              </a:spcAft>
              <a:buClr>
                <a:schemeClr val="dk1"/>
              </a:buClr>
              <a:buSzPts val="1100"/>
              <a:buFont typeface="Arial"/>
              <a:buNone/>
            </a:pPr>
            <a:r>
              <a:rPr lang="en" sz="2700">
                <a:latin typeface="Calibri"/>
                <a:ea typeface="Calibri"/>
                <a:cs typeface="Calibri"/>
                <a:sym typeface="Calibri"/>
              </a:rPr>
              <a:t>The relationship between exploration and exploitation turns out to be a critical factor explaining the performance difference between QL and SARSA.</a:t>
            </a:r>
            <a:endParaRPr sz="2700">
              <a:latin typeface="Calibri"/>
              <a:ea typeface="Calibri"/>
              <a:cs typeface="Calibri"/>
              <a:sym typeface="Calibri"/>
            </a:endParaRPr>
          </a:p>
          <a:p>
            <a:pPr indent="0" lvl="0" marL="0" rtl="0" algn="just">
              <a:lnSpc>
                <a:spcPct val="115000"/>
              </a:lnSpc>
              <a:spcBef>
                <a:spcPts val="0"/>
              </a:spcBef>
              <a:spcAft>
                <a:spcPts val="0"/>
              </a:spcAft>
              <a:buClr>
                <a:schemeClr val="dk1"/>
              </a:buClr>
              <a:buSzPts val="1100"/>
              <a:buFont typeface="Arial"/>
              <a:buNone/>
            </a:pPr>
            <a:r>
              <a:t/>
            </a:r>
            <a:endParaRPr sz="2700">
              <a:latin typeface="Calibri"/>
              <a:ea typeface="Calibri"/>
              <a:cs typeface="Calibri"/>
              <a:sym typeface="Calibri"/>
            </a:endParaRPr>
          </a:p>
          <a:p>
            <a:pPr indent="0" lvl="0" marL="0" rtl="0" algn="just">
              <a:lnSpc>
                <a:spcPct val="115000"/>
              </a:lnSpc>
              <a:spcBef>
                <a:spcPts val="0"/>
              </a:spcBef>
              <a:spcAft>
                <a:spcPts val="0"/>
              </a:spcAft>
              <a:buClr>
                <a:srgbClr val="000000"/>
              </a:buClr>
              <a:buSzPts val="1100"/>
              <a:buFont typeface="Arial"/>
              <a:buNone/>
            </a:pPr>
            <a:r>
              <a:t/>
            </a:r>
            <a:endParaRPr sz="2700">
              <a:latin typeface="Calibri"/>
              <a:ea typeface="Calibri"/>
              <a:cs typeface="Calibri"/>
              <a:sym typeface="Calibri"/>
            </a:endParaRPr>
          </a:p>
        </p:txBody>
      </p:sp>
      <p:sp>
        <p:nvSpPr>
          <p:cNvPr id="92" name="Google Shape;92;p13"/>
          <p:cNvSpPr/>
          <p:nvPr/>
        </p:nvSpPr>
        <p:spPr>
          <a:xfrm>
            <a:off x="685800" y="23317206"/>
            <a:ext cx="9601200" cy="457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Times New Roman"/>
              <a:ea typeface="Times New Roman"/>
              <a:cs typeface="Times New Roman"/>
              <a:sym typeface="Times New Roman"/>
            </a:endParaRPr>
          </a:p>
        </p:txBody>
      </p:sp>
      <p:sp>
        <p:nvSpPr>
          <p:cNvPr id="93" name="Google Shape;93;p13"/>
          <p:cNvSpPr txBox="1"/>
          <p:nvPr/>
        </p:nvSpPr>
        <p:spPr>
          <a:xfrm>
            <a:off x="685800" y="23393400"/>
            <a:ext cx="9601200" cy="45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Times New Roman"/>
                <a:ea typeface="Times New Roman"/>
                <a:cs typeface="Times New Roman"/>
                <a:sym typeface="Times New Roman"/>
              </a:rPr>
              <a:t>Image Sourced From: https://link.springer.com/article/10.1007/s42154-020-00113-1</a:t>
            </a:r>
            <a:endParaRPr sz="1200">
              <a:solidFill>
                <a:schemeClr val="dk1"/>
              </a:solidFill>
              <a:latin typeface="Times New Roman"/>
              <a:ea typeface="Times New Roman"/>
              <a:cs typeface="Times New Roman"/>
              <a:sym typeface="Times New Roman"/>
            </a:endParaRPr>
          </a:p>
        </p:txBody>
      </p:sp>
      <p:sp>
        <p:nvSpPr>
          <p:cNvPr id="94" name="Google Shape;94;p13"/>
          <p:cNvSpPr txBox="1"/>
          <p:nvPr/>
        </p:nvSpPr>
        <p:spPr>
          <a:xfrm>
            <a:off x="12115800" y="3651750"/>
            <a:ext cx="19659600" cy="1148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600">
                <a:latin typeface="Calibri"/>
                <a:ea typeface="Calibri"/>
                <a:cs typeface="Calibri"/>
                <a:sym typeface="Calibri"/>
              </a:rPr>
              <a:t>QL and SARSA were both evaluated for their average convergence performances on 81 gridworlds varying in the length of the shortest path as well as the average number of walls next to the path cells</a:t>
            </a:r>
            <a:endParaRPr sz="2600">
              <a:latin typeface="Calibri"/>
              <a:ea typeface="Calibri"/>
              <a:cs typeface="Calibri"/>
              <a:sym typeface="Calibri"/>
            </a:endParaRPr>
          </a:p>
          <a:p>
            <a:pPr indent="0" lvl="0" marL="457200" rtl="0" algn="l">
              <a:lnSpc>
                <a:spcPct val="115000"/>
              </a:lnSpc>
              <a:spcBef>
                <a:spcPts val="0"/>
              </a:spcBef>
              <a:spcAft>
                <a:spcPts val="0"/>
              </a:spcAft>
              <a:buNone/>
            </a:pPr>
            <a:r>
              <a:rPr lang="en" sz="3000">
                <a:latin typeface="Calibri"/>
                <a:ea typeface="Calibri"/>
                <a:cs typeface="Calibri"/>
                <a:sym typeface="Calibri"/>
              </a:rPr>
              <a:t>.</a:t>
            </a:r>
            <a:endParaRPr sz="3000">
              <a:latin typeface="Calibri"/>
              <a:ea typeface="Calibri"/>
              <a:cs typeface="Calibri"/>
              <a:sym typeface="Calibri"/>
            </a:endParaRPr>
          </a:p>
        </p:txBody>
      </p:sp>
      <p:sp>
        <p:nvSpPr>
          <p:cNvPr id="95" name="Google Shape;95;p13"/>
          <p:cNvSpPr/>
          <p:nvPr/>
        </p:nvSpPr>
        <p:spPr>
          <a:xfrm>
            <a:off x="33627505" y="3657607"/>
            <a:ext cx="9567600" cy="20116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3"/>
          <p:cNvSpPr txBox="1"/>
          <p:nvPr/>
        </p:nvSpPr>
        <p:spPr>
          <a:xfrm>
            <a:off x="35082315" y="14827063"/>
            <a:ext cx="72912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sz="1000">
              <a:solidFill>
                <a:srgbClr val="000000"/>
              </a:solidFill>
              <a:latin typeface="Times New Roman"/>
              <a:ea typeface="Times New Roman"/>
              <a:cs typeface="Times New Roman"/>
              <a:sym typeface="Times New Roman"/>
            </a:endParaRPr>
          </a:p>
        </p:txBody>
      </p:sp>
      <p:sp>
        <p:nvSpPr>
          <p:cNvPr id="97" name="Google Shape;97;p13"/>
          <p:cNvSpPr/>
          <p:nvPr/>
        </p:nvSpPr>
        <p:spPr>
          <a:xfrm>
            <a:off x="33604200" y="2743200"/>
            <a:ext cx="9601200" cy="914400"/>
          </a:xfrm>
          <a:prstGeom prst="rect">
            <a:avLst/>
          </a:prstGeom>
          <a:solidFill>
            <a:srgbClr val="3D85C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4500">
                <a:solidFill>
                  <a:srgbClr val="FFFFFF"/>
                </a:solidFill>
                <a:latin typeface="Comfortaa"/>
                <a:ea typeface="Comfortaa"/>
                <a:cs typeface="Comfortaa"/>
                <a:sym typeface="Comfortaa"/>
              </a:rPr>
              <a:t>MATHEMATICAL ANALYSIS</a:t>
            </a:r>
            <a:endParaRPr b="1" sz="4500">
              <a:solidFill>
                <a:srgbClr val="FFFFFF"/>
              </a:solidFill>
              <a:latin typeface="Comfortaa"/>
              <a:ea typeface="Comfortaa"/>
              <a:cs typeface="Comfortaa"/>
              <a:sym typeface="Comfortaa"/>
            </a:endParaRPr>
          </a:p>
        </p:txBody>
      </p:sp>
      <p:pic>
        <p:nvPicPr>
          <p:cNvPr id="98" name="Google Shape;98;p13"/>
          <p:cNvPicPr preferRelativeResize="0"/>
          <p:nvPr/>
        </p:nvPicPr>
        <p:blipFill>
          <a:blip r:embed="rId3">
            <a:alphaModFix/>
          </a:blip>
          <a:stretch>
            <a:fillRect/>
          </a:stretch>
        </p:blipFill>
        <p:spPr>
          <a:xfrm>
            <a:off x="685800" y="18288000"/>
            <a:ext cx="9601200" cy="5074920"/>
          </a:xfrm>
          <a:prstGeom prst="rect">
            <a:avLst/>
          </a:prstGeom>
          <a:noFill/>
          <a:ln>
            <a:noFill/>
          </a:ln>
        </p:spPr>
      </p:pic>
      <p:pic>
        <p:nvPicPr>
          <p:cNvPr id="99" name="Google Shape;99;p13"/>
          <p:cNvPicPr preferRelativeResize="0"/>
          <p:nvPr/>
        </p:nvPicPr>
        <p:blipFill rotWithShape="1">
          <a:blip r:embed="rId4">
            <a:alphaModFix/>
          </a:blip>
          <a:srcRect b="15919" l="0" r="0" t="18997"/>
          <a:stretch/>
        </p:blipFill>
        <p:spPr>
          <a:xfrm>
            <a:off x="5538192" y="37627395"/>
            <a:ext cx="4592352" cy="2241600"/>
          </a:xfrm>
          <a:prstGeom prst="rect">
            <a:avLst/>
          </a:prstGeom>
          <a:noFill/>
          <a:ln>
            <a:noFill/>
          </a:ln>
        </p:spPr>
      </p:pic>
      <p:sp>
        <p:nvSpPr>
          <p:cNvPr id="100" name="Google Shape;100;p13"/>
          <p:cNvSpPr txBox="1"/>
          <p:nvPr/>
        </p:nvSpPr>
        <p:spPr>
          <a:xfrm>
            <a:off x="937475" y="37651001"/>
            <a:ext cx="4211700" cy="69261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pPr>
            <a:r>
              <a:rPr lang="en" sz="2000">
                <a:latin typeface="Calibri"/>
                <a:ea typeface="Calibri"/>
                <a:cs typeface="Calibri"/>
                <a:sym typeface="Calibri"/>
              </a:rPr>
              <a:t>SimpleGrid is an environment from the library Gymnasium which features a simple, lightweight, and highly modifiable gridworld for training an RL agent. </a:t>
            </a:r>
            <a:endParaRPr sz="2000">
              <a:latin typeface="Calibri"/>
              <a:ea typeface="Calibri"/>
              <a:cs typeface="Calibri"/>
              <a:sym typeface="Calibri"/>
            </a:endParaRPr>
          </a:p>
          <a:p>
            <a:pPr indent="0" lvl="0" marL="0" rtl="0" algn="just">
              <a:lnSpc>
                <a:spcPct val="115000"/>
              </a:lnSpc>
              <a:spcBef>
                <a:spcPts val="0"/>
              </a:spcBef>
              <a:spcAft>
                <a:spcPts val="0"/>
              </a:spcAft>
              <a:buClr>
                <a:schemeClr val="dk1"/>
              </a:buClr>
              <a:buSzPts val="1100"/>
              <a:buFont typeface="Arial"/>
              <a:buNone/>
            </a:pPr>
            <a:r>
              <a:t/>
            </a:r>
            <a:endParaRPr sz="2000">
              <a:latin typeface="Calibri"/>
              <a:ea typeface="Calibri"/>
              <a:cs typeface="Calibri"/>
              <a:sym typeface="Calibri"/>
            </a:endParaRPr>
          </a:p>
          <a:p>
            <a:pPr indent="0" lvl="0" marL="0" rtl="0" algn="just">
              <a:lnSpc>
                <a:spcPct val="115000"/>
              </a:lnSpc>
              <a:spcBef>
                <a:spcPts val="0"/>
              </a:spcBef>
              <a:spcAft>
                <a:spcPts val="0"/>
              </a:spcAft>
              <a:buClr>
                <a:schemeClr val="dk1"/>
              </a:buClr>
              <a:buSzPts val="1100"/>
              <a:buFont typeface="Arial"/>
              <a:buNone/>
            </a:pPr>
            <a:r>
              <a:rPr lang="en" sz="2000">
                <a:latin typeface="Calibri"/>
                <a:ea typeface="Calibri"/>
                <a:cs typeface="Calibri"/>
                <a:sym typeface="Calibri"/>
              </a:rPr>
              <a:t>My experiment involved varying two independent variables which describe a given gridworld: the length of the shortest path from start to goal state (x), and the average number of adjacent wall cells to each cell along the shortest path (y).</a:t>
            </a:r>
            <a:endParaRPr sz="2000">
              <a:latin typeface="Calibri"/>
              <a:ea typeface="Calibri"/>
              <a:cs typeface="Calibri"/>
              <a:sym typeface="Calibri"/>
            </a:endParaRPr>
          </a:p>
          <a:p>
            <a:pPr indent="0" lvl="0" marL="0" rtl="0" algn="just">
              <a:lnSpc>
                <a:spcPct val="115000"/>
              </a:lnSpc>
              <a:spcBef>
                <a:spcPts val="0"/>
              </a:spcBef>
              <a:spcAft>
                <a:spcPts val="0"/>
              </a:spcAft>
              <a:buClr>
                <a:schemeClr val="dk1"/>
              </a:buClr>
              <a:buSzPts val="1100"/>
              <a:buFont typeface="Arial"/>
              <a:buNone/>
            </a:pPr>
            <a:r>
              <a:t/>
            </a:r>
            <a:endParaRPr sz="2000">
              <a:solidFill>
                <a:schemeClr val="dk1"/>
              </a:solidFill>
              <a:latin typeface="Calibri"/>
              <a:ea typeface="Calibri"/>
              <a:cs typeface="Calibri"/>
              <a:sym typeface="Calibri"/>
            </a:endParaRPr>
          </a:p>
          <a:p>
            <a:pPr indent="0" lvl="0" marL="0" rtl="0" algn="just">
              <a:lnSpc>
                <a:spcPct val="115000"/>
              </a:lnSpc>
              <a:spcBef>
                <a:spcPts val="0"/>
              </a:spcBef>
              <a:spcAft>
                <a:spcPts val="0"/>
              </a:spcAft>
              <a:buClr>
                <a:schemeClr val="dk1"/>
              </a:buClr>
              <a:buSzPts val="1100"/>
              <a:buFont typeface="Arial"/>
              <a:buNone/>
            </a:pPr>
            <a:r>
              <a:rPr lang="en" sz="2000">
                <a:solidFill>
                  <a:schemeClr val="dk1"/>
                </a:solidFill>
                <a:latin typeface="Calibri"/>
                <a:ea typeface="Calibri"/>
                <a:cs typeface="Calibri"/>
                <a:sym typeface="Calibri"/>
              </a:rPr>
              <a:t>This involved an intensive process of randomly and procedurally generating thousands of viable gridworlds to select those which vary with regard to the two variables. </a:t>
            </a:r>
            <a:endParaRPr sz="2000">
              <a:latin typeface="Calibri"/>
              <a:ea typeface="Calibri"/>
              <a:cs typeface="Calibri"/>
              <a:sym typeface="Calibri"/>
            </a:endParaRPr>
          </a:p>
        </p:txBody>
      </p:sp>
      <p:sp>
        <p:nvSpPr>
          <p:cNvPr id="101" name="Google Shape;101;p13"/>
          <p:cNvSpPr txBox="1"/>
          <p:nvPr/>
        </p:nvSpPr>
        <p:spPr>
          <a:xfrm>
            <a:off x="5447600" y="39979400"/>
            <a:ext cx="4362900" cy="49002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t/>
            </a:r>
            <a:endParaRPr sz="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 sz="2000">
                <a:solidFill>
                  <a:schemeClr val="dk1"/>
                </a:solidFill>
                <a:latin typeface="Calibri"/>
                <a:ea typeface="Calibri"/>
                <a:cs typeface="Calibri"/>
                <a:sym typeface="Calibri"/>
              </a:rPr>
              <a:t>Generation methods such as random-cell, perlin noise, drunken walker, and zero initialization were used, and a specific range of gridworlds points were selected for a total of 79 gridworlds: </a:t>
            </a:r>
            <a:endParaRPr sz="20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 sz="2000">
                <a:solidFill>
                  <a:schemeClr val="dk1"/>
                </a:solidFill>
                <a:latin typeface="Calibri"/>
                <a:ea typeface="Calibri"/>
                <a:cs typeface="Calibri"/>
                <a:sym typeface="Calibri"/>
              </a:rPr>
              <a:t>x ∈ [2,7] ∩ Z and x ∈ [11,49] ∩ 4Z;</a:t>
            </a:r>
            <a:endParaRPr sz="20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 sz="2000">
                <a:solidFill>
                  <a:schemeClr val="dk1"/>
                </a:solidFill>
                <a:latin typeface="Calibri"/>
                <a:ea typeface="Calibri"/>
                <a:cs typeface="Calibri"/>
                <a:sym typeface="Calibri"/>
              </a:rPr>
              <a:t>y ∈ [0,1], with values in approximate intervals of  0.25</a:t>
            </a:r>
            <a:endParaRPr sz="20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t/>
            </a:r>
            <a:endParaRPr sz="20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 sz="2000">
                <a:solidFill>
                  <a:schemeClr val="dk1"/>
                </a:solidFill>
                <a:latin typeface="Calibri"/>
                <a:ea typeface="Calibri"/>
                <a:cs typeface="Calibri"/>
                <a:sym typeface="Calibri"/>
              </a:rPr>
              <a:t>More information about this Gridworld system can be found in the research log.</a:t>
            </a:r>
            <a:endParaRPr sz="20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t/>
            </a:r>
            <a:endParaRPr sz="2000">
              <a:solidFill>
                <a:schemeClr val="dk1"/>
              </a:solidFill>
              <a:latin typeface="Calibri"/>
              <a:ea typeface="Calibri"/>
              <a:cs typeface="Calibri"/>
              <a:sym typeface="Calibri"/>
            </a:endParaRPr>
          </a:p>
        </p:txBody>
      </p:sp>
      <p:sp>
        <p:nvSpPr>
          <p:cNvPr id="102" name="Google Shape;102;p13"/>
          <p:cNvSpPr/>
          <p:nvPr/>
        </p:nvSpPr>
        <p:spPr>
          <a:xfrm>
            <a:off x="13377685" y="31894824"/>
            <a:ext cx="7315200" cy="348000"/>
          </a:xfrm>
          <a:prstGeom prst="rect">
            <a:avLst/>
          </a:prstGeom>
          <a:solidFill>
            <a:srgbClr val="999999"/>
          </a:solidFill>
          <a:ln cap="flat" cmpd="sng" w="9525">
            <a:solidFill>
              <a:srgbClr val="5B0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rgbClr val="FFFFFF"/>
                </a:solidFill>
                <a:latin typeface="Comfortaa"/>
                <a:ea typeface="Comfortaa"/>
                <a:cs typeface="Comfortaa"/>
                <a:sym typeface="Comfortaa"/>
              </a:rPr>
              <a:t>QL Update Rule</a:t>
            </a:r>
            <a:endParaRPr b="1" sz="2200">
              <a:solidFill>
                <a:srgbClr val="FFFFFF"/>
              </a:solidFill>
              <a:latin typeface="Comfortaa"/>
              <a:ea typeface="Comfortaa"/>
              <a:cs typeface="Comfortaa"/>
              <a:sym typeface="Comfortaa"/>
            </a:endParaRPr>
          </a:p>
        </p:txBody>
      </p:sp>
      <p:pic>
        <p:nvPicPr>
          <p:cNvPr id="103" name="Google Shape;103;p13"/>
          <p:cNvPicPr preferRelativeResize="0"/>
          <p:nvPr/>
        </p:nvPicPr>
        <p:blipFill>
          <a:blip r:embed="rId5">
            <a:alphaModFix/>
          </a:blip>
          <a:stretch>
            <a:fillRect/>
          </a:stretch>
        </p:blipFill>
        <p:spPr>
          <a:xfrm>
            <a:off x="13377656" y="32242839"/>
            <a:ext cx="7315200" cy="453156"/>
          </a:xfrm>
          <a:prstGeom prst="rect">
            <a:avLst/>
          </a:prstGeom>
          <a:solidFill>
            <a:srgbClr val="5B0F00"/>
          </a:solidFill>
          <a:ln cap="flat" cmpd="sng" w="9525">
            <a:solidFill>
              <a:schemeClr val="dk1"/>
            </a:solidFill>
            <a:prstDash val="solid"/>
            <a:round/>
            <a:headEnd len="sm" w="sm" type="none"/>
            <a:tailEnd len="sm" w="sm" type="none"/>
          </a:ln>
        </p:spPr>
      </p:pic>
      <p:sp>
        <p:nvSpPr>
          <p:cNvPr id="104" name="Google Shape;104;p13"/>
          <p:cNvSpPr/>
          <p:nvPr/>
        </p:nvSpPr>
        <p:spPr>
          <a:xfrm>
            <a:off x="23207497" y="31901359"/>
            <a:ext cx="7315200" cy="348000"/>
          </a:xfrm>
          <a:prstGeom prst="rect">
            <a:avLst/>
          </a:prstGeom>
          <a:solidFill>
            <a:srgbClr val="999999"/>
          </a:solidFill>
          <a:ln cap="flat" cmpd="sng" w="9525">
            <a:solidFill>
              <a:srgbClr val="5B0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rgbClr val="FFFFFF"/>
                </a:solidFill>
                <a:latin typeface="Comfortaa"/>
                <a:ea typeface="Comfortaa"/>
                <a:cs typeface="Comfortaa"/>
                <a:sym typeface="Comfortaa"/>
              </a:rPr>
              <a:t>SARSA </a:t>
            </a:r>
            <a:r>
              <a:rPr b="1" lang="en" sz="2200">
                <a:solidFill>
                  <a:srgbClr val="FFFFFF"/>
                </a:solidFill>
                <a:latin typeface="Comfortaa"/>
                <a:ea typeface="Comfortaa"/>
                <a:cs typeface="Comfortaa"/>
                <a:sym typeface="Comfortaa"/>
              </a:rPr>
              <a:t>Update Rule</a:t>
            </a:r>
            <a:endParaRPr b="1" sz="2200">
              <a:solidFill>
                <a:srgbClr val="FFFFFF"/>
              </a:solidFill>
              <a:latin typeface="Comfortaa"/>
              <a:ea typeface="Comfortaa"/>
              <a:cs typeface="Comfortaa"/>
              <a:sym typeface="Comfortaa"/>
            </a:endParaRPr>
          </a:p>
        </p:txBody>
      </p:sp>
      <p:pic>
        <p:nvPicPr>
          <p:cNvPr id="105" name="Google Shape;105;p13"/>
          <p:cNvPicPr preferRelativeResize="0"/>
          <p:nvPr/>
        </p:nvPicPr>
        <p:blipFill>
          <a:blip r:embed="rId6">
            <a:alphaModFix/>
          </a:blip>
          <a:stretch>
            <a:fillRect/>
          </a:stretch>
        </p:blipFill>
        <p:spPr>
          <a:xfrm>
            <a:off x="23209875" y="32284926"/>
            <a:ext cx="7315199" cy="445539"/>
          </a:xfrm>
          <a:prstGeom prst="rect">
            <a:avLst/>
          </a:prstGeom>
          <a:noFill/>
          <a:ln cap="flat" cmpd="sng" w="9525">
            <a:solidFill>
              <a:srgbClr val="222222"/>
            </a:solidFill>
            <a:prstDash val="solid"/>
            <a:round/>
            <a:headEnd len="sm" w="sm" type="none"/>
            <a:tailEnd len="sm" w="sm" type="none"/>
          </a:ln>
        </p:spPr>
      </p:pic>
      <p:sp>
        <p:nvSpPr>
          <p:cNvPr id="106" name="Google Shape;106;p13"/>
          <p:cNvSpPr/>
          <p:nvPr/>
        </p:nvSpPr>
        <p:spPr>
          <a:xfrm>
            <a:off x="6858000" y="-1371600"/>
            <a:ext cx="30175200" cy="2743200"/>
          </a:xfrm>
          <a:prstGeom prst="roundRect">
            <a:avLst>
              <a:gd fmla="val 16667" name="adj"/>
            </a:avLst>
          </a:prstGeom>
          <a:solidFill>
            <a:srgbClr val="3D85C6"/>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8400">
                <a:solidFill>
                  <a:schemeClr val="lt1"/>
                </a:solidFill>
                <a:latin typeface="Comfortaa"/>
                <a:ea typeface="Comfortaa"/>
                <a:cs typeface="Comfortaa"/>
                <a:sym typeface="Comfortaa"/>
              </a:rPr>
              <a:t>Carelessness Over Caution: </a:t>
            </a:r>
            <a:endParaRPr b="1" sz="8400">
              <a:solidFill>
                <a:schemeClr val="lt1"/>
              </a:solidFill>
              <a:latin typeface="Comfortaa"/>
              <a:ea typeface="Comfortaa"/>
              <a:cs typeface="Comfortaa"/>
              <a:sym typeface="Comfortaa"/>
            </a:endParaRPr>
          </a:p>
          <a:p>
            <a:pPr indent="0" lvl="0" marL="0" rtl="0" algn="ctr">
              <a:spcBef>
                <a:spcPts val="0"/>
              </a:spcBef>
              <a:spcAft>
                <a:spcPts val="0"/>
              </a:spcAft>
              <a:buClr>
                <a:schemeClr val="dk1"/>
              </a:buClr>
              <a:buSzPts val="1100"/>
              <a:buFont typeface="Arial"/>
              <a:buNone/>
            </a:pPr>
            <a:r>
              <a:rPr b="1" lang="en" sz="5100">
                <a:solidFill>
                  <a:schemeClr val="lt1"/>
                </a:solidFill>
                <a:latin typeface="Comfortaa"/>
                <a:ea typeface="Comfortaa"/>
                <a:cs typeface="Comfortaa"/>
                <a:sym typeface="Comfortaa"/>
              </a:rPr>
              <a:t>Understanding the Hidden Power Behind Off-Policy Reinforcement Learning Algorithms</a:t>
            </a:r>
            <a:endParaRPr b="1" sz="5100">
              <a:solidFill>
                <a:schemeClr val="lt1"/>
              </a:solidFill>
              <a:latin typeface="Comfortaa"/>
              <a:ea typeface="Comfortaa"/>
              <a:cs typeface="Comfortaa"/>
              <a:sym typeface="Comfortaa"/>
            </a:endParaRPr>
          </a:p>
          <a:p>
            <a:pPr indent="0" lvl="0" marL="0" rtl="0" algn="ctr">
              <a:spcBef>
                <a:spcPts val="0"/>
              </a:spcBef>
              <a:spcAft>
                <a:spcPts val="0"/>
              </a:spcAft>
              <a:buNone/>
            </a:pPr>
            <a:r>
              <a:t/>
            </a:r>
            <a:endParaRPr/>
          </a:p>
        </p:txBody>
      </p:sp>
      <p:sp>
        <p:nvSpPr>
          <p:cNvPr id="107" name="Google Shape;107;p13"/>
          <p:cNvSpPr/>
          <p:nvPr/>
        </p:nvSpPr>
        <p:spPr>
          <a:xfrm>
            <a:off x="12088368" y="4800602"/>
            <a:ext cx="9656100" cy="457200"/>
          </a:xfrm>
          <a:prstGeom prst="rect">
            <a:avLst/>
          </a:prstGeom>
          <a:solidFill>
            <a:srgbClr val="3D85C6"/>
          </a:solidFill>
          <a:ln cap="flat" cmpd="sng" w="9525">
            <a:solidFill>
              <a:srgbClr val="3D85C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rgbClr val="FFFFFF"/>
                </a:solidFill>
                <a:latin typeface="Comfortaa"/>
                <a:ea typeface="Comfortaa"/>
                <a:cs typeface="Comfortaa"/>
                <a:sym typeface="Comfortaa"/>
              </a:rPr>
              <a:t>Comparative Performance over Gridworld parameters</a:t>
            </a:r>
            <a:endParaRPr b="1" sz="2200">
              <a:solidFill>
                <a:srgbClr val="FFFFFF"/>
              </a:solidFill>
              <a:latin typeface="Comfortaa"/>
              <a:ea typeface="Comfortaa"/>
              <a:cs typeface="Comfortaa"/>
              <a:sym typeface="Comfortaa"/>
            </a:endParaRPr>
          </a:p>
        </p:txBody>
      </p:sp>
      <p:sp>
        <p:nvSpPr>
          <p:cNvPr id="108" name="Google Shape;108;p13"/>
          <p:cNvSpPr/>
          <p:nvPr/>
        </p:nvSpPr>
        <p:spPr>
          <a:xfrm>
            <a:off x="22174200" y="4800600"/>
            <a:ext cx="9601200" cy="457200"/>
          </a:xfrm>
          <a:prstGeom prst="rect">
            <a:avLst/>
          </a:prstGeom>
          <a:solidFill>
            <a:srgbClr val="3D85C6"/>
          </a:solidFill>
          <a:ln cap="flat" cmpd="sng" w="9525">
            <a:solidFill>
              <a:srgbClr val="3D85C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rgbClr val="FFFFFF"/>
                </a:solidFill>
                <a:latin typeface="Comfortaa"/>
                <a:ea typeface="Comfortaa"/>
                <a:cs typeface="Comfortaa"/>
                <a:sym typeface="Comfortaa"/>
              </a:rPr>
              <a:t>Example Gridworld Evaluations</a:t>
            </a:r>
            <a:endParaRPr b="1" sz="2200">
              <a:solidFill>
                <a:srgbClr val="FFFFFF"/>
              </a:solidFill>
              <a:latin typeface="Comfortaa"/>
              <a:ea typeface="Comfortaa"/>
              <a:cs typeface="Comfortaa"/>
              <a:sym typeface="Comfortaa"/>
            </a:endParaRPr>
          </a:p>
        </p:txBody>
      </p:sp>
      <p:sp>
        <p:nvSpPr>
          <p:cNvPr id="109" name="Google Shape;109;p13"/>
          <p:cNvSpPr/>
          <p:nvPr/>
        </p:nvSpPr>
        <p:spPr>
          <a:xfrm>
            <a:off x="22174200" y="5257800"/>
            <a:ext cx="9601200" cy="18059400"/>
          </a:xfrm>
          <a:prstGeom prst="rect">
            <a:avLst/>
          </a:prstGeom>
          <a:solidFill>
            <a:srgbClr val="FFFFFF"/>
          </a:solidFill>
          <a:ln cap="flat" cmpd="sng" w="28575">
            <a:solidFill>
              <a:srgbClr val="3D85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10" name="Google Shape;110;p13"/>
          <p:cNvSpPr/>
          <p:nvPr/>
        </p:nvSpPr>
        <p:spPr>
          <a:xfrm>
            <a:off x="22402800" y="5486400"/>
            <a:ext cx="9144000" cy="345900"/>
          </a:xfrm>
          <a:prstGeom prst="rect">
            <a:avLst/>
          </a:prstGeom>
          <a:solidFill>
            <a:srgbClr val="3D85C6"/>
          </a:solidFill>
          <a:ln cap="flat" cmpd="sng" w="9525">
            <a:solidFill>
              <a:srgbClr val="3D85C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rgbClr val="FFFFFF"/>
                </a:solidFill>
                <a:latin typeface="Comfortaa"/>
                <a:ea typeface="Comfortaa"/>
                <a:cs typeface="Comfortaa"/>
                <a:sym typeface="Comfortaa"/>
              </a:rPr>
              <a:t>Gridworld Evaluation #31</a:t>
            </a:r>
            <a:endParaRPr b="1" sz="2200">
              <a:solidFill>
                <a:srgbClr val="FFFFFF"/>
              </a:solidFill>
              <a:latin typeface="Comfortaa"/>
              <a:ea typeface="Comfortaa"/>
              <a:cs typeface="Comfortaa"/>
              <a:sym typeface="Comfortaa"/>
            </a:endParaRPr>
          </a:p>
        </p:txBody>
      </p:sp>
      <p:sp>
        <p:nvSpPr>
          <p:cNvPr id="111" name="Google Shape;111;p13"/>
          <p:cNvSpPr/>
          <p:nvPr/>
        </p:nvSpPr>
        <p:spPr>
          <a:xfrm>
            <a:off x="22402800" y="5806440"/>
            <a:ext cx="9144000" cy="5394900"/>
          </a:xfrm>
          <a:prstGeom prst="rect">
            <a:avLst/>
          </a:prstGeom>
          <a:solidFill>
            <a:srgbClr val="FFFFFF"/>
          </a:solidFill>
          <a:ln cap="flat" cmpd="sng" w="9525">
            <a:solidFill>
              <a:srgbClr val="3D85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12" name="Google Shape;112;p13"/>
          <p:cNvSpPr/>
          <p:nvPr/>
        </p:nvSpPr>
        <p:spPr>
          <a:xfrm>
            <a:off x="22402800" y="11430000"/>
            <a:ext cx="9144000" cy="323100"/>
          </a:xfrm>
          <a:prstGeom prst="rect">
            <a:avLst/>
          </a:prstGeom>
          <a:solidFill>
            <a:srgbClr val="3D85C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rgbClr val="FFFFFF"/>
                </a:solidFill>
                <a:latin typeface="Comfortaa"/>
                <a:ea typeface="Comfortaa"/>
                <a:cs typeface="Comfortaa"/>
                <a:sym typeface="Comfortaa"/>
              </a:rPr>
              <a:t>Gridworld Evaluation #58</a:t>
            </a:r>
            <a:endParaRPr b="1" sz="2200">
              <a:solidFill>
                <a:srgbClr val="FFFFFF"/>
              </a:solidFill>
              <a:latin typeface="Comfortaa"/>
              <a:ea typeface="Comfortaa"/>
              <a:cs typeface="Comfortaa"/>
              <a:sym typeface="Comfortaa"/>
            </a:endParaRPr>
          </a:p>
        </p:txBody>
      </p:sp>
      <p:sp>
        <p:nvSpPr>
          <p:cNvPr id="113" name="Google Shape;113;p13"/>
          <p:cNvSpPr/>
          <p:nvPr/>
        </p:nvSpPr>
        <p:spPr>
          <a:xfrm>
            <a:off x="22402800" y="11750042"/>
            <a:ext cx="9144000" cy="5394900"/>
          </a:xfrm>
          <a:prstGeom prst="rect">
            <a:avLst/>
          </a:prstGeom>
          <a:solidFill>
            <a:srgbClr val="FFFFFF"/>
          </a:solidFill>
          <a:ln cap="flat" cmpd="sng" w="9525">
            <a:solidFill>
              <a:srgbClr val="3D85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14" name="Google Shape;114;p13"/>
          <p:cNvSpPr/>
          <p:nvPr/>
        </p:nvSpPr>
        <p:spPr>
          <a:xfrm>
            <a:off x="22402800" y="17373631"/>
            <a:ext cx="9144000" cy="323100"/>
          </a:xfrm>
          <a:prstGeom prst="rect">
            <a:avLst/>
          </a:prstGeom>
          <a:solidFill>
            <a:srgbClr val="3D85C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rgbClr val="FFFFFF"/>
                </a:solidFill>
                <a:latin typeface="Comfortaa"/>
                <a:ea typeface="Comfortaa"/>
                <a:cs typeface="Comfortaa"/>
                <a:sym typeface="Comfortaa"/>
              </a:rPr>
              <a:t>Gridworld Evaluation #65</a:t>
            </a:r>
            <a:endParaRPr b="1" sz="2200">
              <a:solidFill>
                <a:srgbClr val="FFFFFF"/>
              </a:solidFill>
              <a:latin typeface="Comfortaa"/>
              <a:ea typeface="Comfortaa"/>
              <a:cs typeface="Comfortaa"/>
              <a:sym typeface="Comfortaa"/>
            </a:endParaRPr>
          </a:p>
        </p:txBody>
      </p:sp>
      <p:pic>
        <p:nvPicPr>
          <p:cNvPr id="115" name="Google Shape;115;p13"/>
          <p:cNvPicPr preferRelativeResize="0"/>
          <p:nvPr/>
        </p:nvPicPr>
        <p:blipFill rotWithShape="1">
          <a:blip r:embed="rId7">
            <a:alphaModFix/>
          </a:blip>
          <a:srcRect b="0" l="2141" r="1815" t="7927"/>
          <a:stretch/>
        </p:blipFill>
        <p:spPr>
          <a:xfrm>
            <a:off x="23088600" y="7086600"/>
            <a:ext cx="3200400" cy="2602992"/>
          </a:xfrm>
          <a:prstGeom prst="rect">
            <a:avLst/>
          </a:prstGeom>
          <a:noFill/>
          <a:ln>
            <a:noFill/>
          </a:ln>
        </p:spPr>
      </p:pic>
      <p:sp>
        <p:nvSpPr>
          <p:cNvPr id="116" name="Google Shape;116;p13"/>
          <p:cNvSpPr/>
          <p:nvPr/>
        </p:nvSpPr>
        <p:spPr>
          <a:xfrm>
            <a:off x="22402800" y="17693672"/>
            <a:ext cx="9144000" cy="5394900"/>
          </a:xfrm>
          <a:prstGeom prst="rect">
            <a:avLst/>
          </a:prstGeom>
          <a:solidFill>
            <a:srgbClr val="FFFFFF"/>
          </a:solidFill>
          <a:ln cap="flat" cmpd="sng" w="9525">
            <a:solidFill>
              <a:srgbClr val="3D85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117" name="Google Shape;117;p13"/>
          <p:cNvPicPr preferRelativeResize="0"/>
          <p:nvPr/>
        </p:nvPicPr>
        <p:blipFill>
          <a:blip r:embed="rId8">
            <a:alphaModFix/>
          </a:blip>
          <a:stretch>
            <a:fillRect/>
          </a:stretch>
        </p:blipFill>
        <p:spPr>
          <a:xfrm>
            <a:off x="27221688" y="7143833"/>
            <a:ext cx="4114799" cy="3240405"/>
          </a:xfrm>
          <a:prstGeom prst="rect">
            <a:avLst/>
          </a:prstGeom>
          <a:noFill/>
          <a:ln>
            <a:noFill/>
          </a:ln>
        </p:spPr>
      </p:pic>
      <p:sp>
        <p:nvSpPr>
          <p:cNvPr id="118" name="Google Shape;118;p13"/>
          <p:cNvSpPr txBox="1"/>
          <p:nvPr/>
        </p:nvSpPr>
        <p:spPr>
          <a:xfrm>
            <a:off x="22402800" y="5806440"/>
            <a:ext cx="9144000" cy="54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500">
                <a:solidFill>
                  <a:schemeClr val="dk2"/>
                </a:solidFill>
              </a:rPr>
              <a:t>Gridworld point: (11, 0.5)</a:t>
            </a:r>
            <a:endParaRPr b="1" sz="2500">
              <a:solidFill>
                <a:schemeClr val="dk2"/>
              </a:solidFill>
            </a:endParaRPr>
          </a:p>
        </p:txBody>
      </p:sp>
      <p:sp>
        <p:nvSpPr>
          <p:cNvPr id="119" name="Google Shape;119;p13"/>
          <p:cNvSpPr/>
          <p:nvPr/>
        </p:nvSpPr>
        <p:spPr>
          <a:xfrm>
            <a:off x="23088600" y="6860000"/>
            <a:ext cx="3200400" cy="228600"/>
          </a:xfrm>
          <a:prstGeom prst="rect">
            <a:avLst/>
          </a:prstGeom>
          <a:solidFill>
            <a:srgbClr val="3D85C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rgbClr val="FFFFFF"/>
                </a:solidFill>
                <a:latin typeface="Comfortaa"/>
                <a:ea typeface="Comfortaa"/>
                <a:cs typeface="Comfortaa"/>
                <a:sym typeface="Comfortaa"/>
              </a:rPr>
              <a:t>Gridworld #31</a:t>
            </a:r>
            <a:endParaRPr b="1" sz="1500">
              <a:solidFill>
                <a:srgbClr val="FFFFFF"/>
              </a:solidFill>
              <a:latin typeface="Comfortaa"/>
              <a:ea typeface="Comfortaa"/>
              <a:cs typeface="Comfortaa"/>
              <a:sym typeface="Comfortaa"/>
            </a:endParaRPr>
          </a:p>
        </p:txBody>
      </p:sp>
      <p:sp>
        <p:nvSpPr>
          <p:cNvPr id="120" name="Google Shape;120;p13"/>
          <p:cNvSpPr/>
          <p:nvPr/>
        </p:nvSpPr>
        <p:spPr>
          <a:xfrm>
            <a:off x="27249120" y="6855250"/>
            <a:ext cx="4114800" cy="228600"/>
          </a:xfrm>
          <a:prstGeom prst="rect">
            <a:avLst/>
          </a:prstGeom>
          <a:solidFill>
            <a:srgbClr val="3D85C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rgbClr val="FFFFFF"/>
                </a:solidFill>
                <a:latin typeface="Comfortaa"/>
                <a:ea typeface="Comfortaa"/>
                <a:cs typeface="Comfortaa"/>
                <a:sym typeface="Comfortaa"/>
              </a:rPr>
              <a:t>Evaluation </a:t>
            </a:r>
            <a:r>
              <a:rPr b="1" lang="en" sz="1500">
                <a:solidFill>
                  <a:srgbClr val="FFFFFF"/>
                </a:solidFill>
                <a:latin typeface="Comfortaa"/>
                <a:ea typeface="Comfortaa"/>
                <a:cs typeface="Comfortaa"/>
                <a:sym typeface="Comfortaa"/>
              </a:rPr>
              <a:t>#31</a:t>
            </a:r>
            <a:endParaRPr b="1" sz="1500">
              <a:solidFill>
                <a:srgbClr val="FFFFFF"/>
              </a:solidFill>
              <a:latin typeface="Comfortaa"/>
              <a:ea typeface="Comfortaa"/>
              <a:cs typeface="Comfortaa"/>
              <a:sym typeface="Comfortaa"/>
            </a:endParaRPr>
          </a:p>
        </p:txBody>
      </p:sp>
      <p:sp>
        <p:nvSpPr>
          <p:cNvPr id="121" name="Google Shape;121;p13"/>
          <p:cNvSpPr txBox="1"/>
          <p:nvPr/>
        </p:nvSpPr>
        <p:spPr>
          <a:xfrm>
            <a:off x="22402800" y="11750042"/>
            <a:ext cx="9144000" cy="54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500">
                <a:solidFill>
                  <a:schemeClr val="dk2"/>
                </a:solidFill>
              </a:rPr>
              <a:t>Gridworld point: (31, 1.0)</a:t>
            </a:r>
            <a:endParaRPr b="1" sz="2500">
              <a:solidFill>
                <a:schemeClr val="dk2"/>
              </a:solidFill>
            </a:endParaRPr>
          </a:p>
        </p:txBody>
      </p:sp>
      <p:sp>
        <p:nvSpPr>
          <p:cNvPr id="122" name="Google Shape;122;p13"/>
          <p:cNvSpPr/>
          <p:nvPr/>
        </p:nvSpPr>
        <p:spPr>
          <a:xfrm>
            <a:off x="27249120" y="12573000"/>
            <a:ext cx="4114800" cy="228600"/>
          </a:xfrm>
          <a:prstGeom prst="rect">
            <a:avLst/>
          </a:prstGeom>
          <a:solidFill>
            <a:srgbClr val="3D85C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rgbClr val="FFFFFF"/>
                </a:solidFill>
                <a:latin typeface="Comfortaa"/>
                <a:ea typeface="Comfortaa"/>
                <a:cs typeface="Comfortaa"/>
                <a:sym typeface="Comfortaa"/>
              </a:rPr>
              <a:t>Evaluation #58</a:t>
            </a:r>
            <a:endParaRPr b="1" sz="1500">
              <a:solidFill>
                <a:srgbClr val="FFFFFF"/>
              </a:solidFill>
              <a:latin typeface="Comfortaa"/>
              <a:ea typeface="Comfortaa"/>
              <a:cs typeface="Comfortaa"/>
              <a:sym typeface="Comfortaa"/>
            </a:endParaRPr>
          </a:p>
        </p:txBody>
      </p:sp>
      <p:sp>
        <p:nvSpPr>
          <p:cNvPr id="123" name="Google Shape;123;p13"/>
          <p:cNvSpPr txBox="1"/>
          <p:nvPr/>
        </p:nvSpPr>
        <p:spPr>
          <a:xfrm>
            <a:off x="22402800" y="17693672"/>
            <a:ext cx="91440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500">
                <a:solidFill>
                  <a:schemeClr val="dk2"/>
                </a:solidFill>
              </a:rPr>
              <a:t>Gridworld point: (39, 0.25)</a:t>
            </a:r>
            <a:endParaRPr b="1" sz="2500">
              <a:solidFill>
                <a:schemeClr val="dk2"/>
              </a:solidFill>
            </a:endParaRPr>
          </a:p>
        </p:txBody>
      </p:sp>
      <p:sp>
        <p:nvSpPr>
          <p:cNvPr id="124" name="Google Shape;124;p13"/>
          <p:cNvSpPr/>
          <p:nvPr/>
        </p:nvSpPr>
        <p:spPr>
          <a:xfrm>
            <a:off x="27246883" y="18742450"/>
            <a:ext cx="4114800" cy="228600"/>
          </a:xfrm>
          <a:prstGeom prst="rect">
            <a:avLst/>
          </a:prstGeom>
          <a:solidFill>
            <a:srgbClr val="3D85C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rgbClr val="FFFFFF"/>
                </a:solidFill>
                <a:latin typeface="Comfortaa"/>
                <a:ea typeface="Comfortaa"/>
                <a:cs typeface="Comfortaa"/>
                <a:sym typeface="Comfortaa"/>
              </a:rPr>
              <a:t>Evaluation #65</a:t>
            </a:r>
            <a:endParaRPr b="1" sz="1500">
              <a:solidFill>
                <a:srgbClr val="FFFFFF"/>
              </a:solidFill>
              <a:latin typeface="Comfortaa"/>
              <a:ea typeface="Comfortaa"/>
              <a:cs typeface="Comfortaa"/>
              <a:sym typeface="Comfortaa"/>
            </a:endParaRPr>
          </a:p>
        </p:txBody>
      </p:sp>
      <p:pic>
        <p:nvPicPr>
          <p:cNvPr id="125" name="Google Shape;125;p13"/>
          <p:cNvPicPr preferRelativeResize="0"/>
          <p:nvPr/>
        </p:nvPicPr>
        <p:blipFill rotWithShape="1">
          <a:blip r:embed="rId9">
            <a:alphaModFix/>
          </a:blip>
          <a:srcRect b="0" l="2780" r="1980" t="6707"/>
          <a:stretch/>
        </p:blipFill>
        <p:spPr>
          <a:xfrm>
            <a:off x="23088600" y="18964656"/>
            <a:ext cx="3200400" cy="3306024"/>
          </a:xfrm>
          <a:prstGeom prst="rect">
            <a:avLst/>
          </a:prstGeom>
          <a:noFill/>
          <a:ln>
            <a:noFill/>
          </a:ln>
        </p:spPr>
      </p:pic>
      <p:pic>
        <p:nvPicPr>
          <p:cNvPr id="126" name="Google Shape;126;p13"/>
          <p:cNvPicPr preferRelativeResize="0"/>
          <p:nvPr/>
        </p:nvPicPr>
        <p:blipFill>
          <a:blip r:embed="rId10">
            <a:alphaModFix/>
          </a:blip>
          <a:stretch>
            <a:fillRect/>
          </a:stretch>
        </p:blipFill>
        <p:spPr>
          <a:xfrm>
            <a:off x="27218640" y="18995938"/>
            <a:ext cx="4114800" cy="3514725"/>
          </a:xfrm>
          <a:prstGeom prst="rect">
            <a:avLst/>
          </a:prstGeom>
          <a:noFill/>
          <a:ln>
            <a:noFill/>
          </a:ln>
        </p:spPr>
      </p:pic>
      <p:pic>
        <p:nvPicPr>
          <p:cNvPr id="127" name="Google Shape;127;p13"/>
          <p:cNvPicPr preferRelativeResize="0"/>
          <p:nvPr/>
        </p:nvPicPr>
        <p:blipFill rotWithShape="1">
          <a:blip r:embed="rId11">
            <a:alphaModFix/>
          </a:blip>
          <a:srcRect b="0" l="4651" r="3966" t="6733"/>
          <a:stretch/>
        </p:blipFill>
        <p:spPr>
          <a:xfrm>
            <a:off x="23545800" y="12771120"/>
            <a:ext cx="2109775" cy="4037800"/>
          </a:xfrm>
          <a:prstGeom prst="rect">
            <a:avLst/>
          </a:prstGeom>
          <a:noFill/>
          <a:ln>
            <a:noFill/>
          </a:ln>
        </p:spPr>
      </p:pic>
      <p:pic>
        <p:nvPicPr>
          <p:cNvPr id="128" name="Google Shape;128;p13"/>
          <p:cNvPicPr preferRelativeResize="0"/>
          <p:nvPr/>
        </p:nvPicPr>
        <p:blipFill>
          <a:blip r:embed="rId12">
            <a:alphaModFix/>
          </a:blip>
          <a:stretch>
            <a:fillRect/>
          </a:stretch>
        </p:blipFill>
        <p:spPr>
          <a:xfrm>
            <a:off x="27221688" y="12816775"/>
            <a:ext cx="4114800" cy="3390900"/>
          </a:xfrm>
          <a:prstGeom prst="rect">
            <a:avLst/>
          </a:prstGeom>
          <a:noFill/>
          <a:ln>
            <a:noFill/>
          </a:ln>
        </p:spPr>
      </p:pic>
      <p:sp>
        <p:nvSpPr>
          <p:cNvPr id="129" name="Google Shape;129;p13"/>
          <p:cNvSpPr/>
          <p:nvPr/>
        </p:nvSpPr>
        <p:spPr>
          <a:xfrm>
            <a:off x="23545800" y="12573000"/>
            <a:ext cx="2112300" cy="228600"/>
          </a:xfrm>
          <a:prstGeom prst="rect">
            <a:avLst/>
          </a:prstGeom>
          <a:solidFill>
            <a:srgbClr val="3D85C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rgbClr val="FFFFFF"/>
                </a:solidFill>
                <a:latin typeface="Comfortaa"/>
                <a:ea typeface="Comfortaa"/>
                <a:cs typeface="Comfortaa"/>
                <a:sym typeface="Comfortaa"/>
              </a:rPr>
              <a:t>Gridworld #58</a:t>
            </a:r>
            <a:endParaRPr b="1" sz="1500">
              <a:solidFill>
                <a:srgbClr val="FFFFFF"/>
              </a:solidFill>
              <a:latin typeface="Comfortaa"/>
              <a:ea typeface="Comfortaa"/>
              <a:cs typeface="Comfortaa"/>
              <a:sym typeface="Comfortaa"/>
            </a:endParaRPr>
          </a:p>
        </p:txBody>
      </p:sp>
      <p:sp>
        <p:nvSpPr>
          <p:cNvPr id="130" name="Google Shape;130;p13"/>
          <p:cNvSpPr/>
          <p:nvPr/>
        </p:nvSpPr>
        <p:spPr>
          <a:xfrm>
            <a:off x="23088600" y="18747200"/>
            <a:ext cx="3200400" cy="228600"/>
          </a:xfrm>
          <a:prstGeom prst="rect">
            <a:avLst/>
          </a:prstGeom>
          <a:solidFill>
            <a:srgbClr val="3D85C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rgbClr val="FFFFFF"/>
                </a:solidFill>
                <a:latin typeface="Comfortaa"/>
                <a:ea typeface="Comfortaa"/>
                <a:cs typeface="Comfortaa"/>
                <a:sym typeface="Comfortaa"/>
              </a:rPr>
              <a:t>Gridworld #65</a:t>
            </a:r>
            <a:endParaRPr b="1" sz="1500">
              <a:solidFill>
                <a:srgbClr val="FFFFFF"/>
              </a:solidFill>
              <a:latin typeface="Comfortaa"/>
              <a:ea typeface="Comfortaa"/>
              <a:cs typeface="Comfortaa"/>
              <a:sym typeface="Comfortaa"/>
            </a:endParaRPr>
          </a:p>
        </p:txBody>
      </p:sp>
      <p:sp>
        <p:nvSpPr>
          <p:cNvPr id="131" name="Google Shape;131;p13"/>
          <p:cNvSpPr/>
          <p:nvPr/>
        </p:nvSpPr>
        <p:spPr>
          <a:xfrm>
            <a:off x="11658600" y="25603200"/>
            <a:ext cx="20574000" cy="914400"/>
          </a:xfrm>
          <a:prstGeom prst="rect">
            <a:avLst/>
          </a:prstGeom>
          <a:solidFill>
            <a:srgbClr val="999999"/>
          </a:solidFill>
          <a:ln cap="flat" cmpd="sng" w="9525">
            <a:solidFill>
              <a:srgbClr val="5B0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4000">
                <a:solidFill>
                  <a:srgbClr val="FFFFFF"/>
                </a:solidFill>
                <a:latin typeface="Comfortaa"/>
                <a:ea typeface="Comfortaa"/>
                <a:cs typeface="Comfortaa"/>
                <a:sym typeface="Comfortaa"/>
              </a:rPr>
              <a:t>Temporal-Differencing Algorithms</a:t>
            </a:r>
            <a:endParaRPr b="1" sz="4000">
              <a:solidFill>
                <a:srgbClr val="FFFFFF"/>
              </a:solidFill>
              <a:latin typeface="Comfortaa"/>
              <a:ea typeface="Comfortaa"/>
              <a:cs typeface="Comfortaa"/>
              <a:sym typeface="Comfortaa"/>
            </a:endParaRPr>
          </a:p>
        </p:txBody>
      </p:sp>
      <p:sp>
        <p:nvSpPr>
          <p:cNvPr id="132" name="Google Shape;132;p13"/>
          <p:cNvSpPr txBox="1"/>
          <p:nvPr/>
        </p:nvSpPr>
        <p:spPr>
          <a:xfrm>
            <a:off x="11887200" y="26516948"/>
            <a:ext cx="20116800" cy="26031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pPr>
            <a:r>
              <a:rPr lang="en" sz="3400">
                <a:solidFill>
                  <a:schemeClr val="dk1"/>
                </a:solidFill>
                <a:latin typeface="Calibri"/>
                <a:ea typeface="Calibri"/>
                <a:cs typeface="Calibri"/>
                <a:sym typeface="Calibri"/>
              </a:rPr>
              <a:t>Temporal-Differencing (TD) is a class of RL algorithms which, through direct experience of the environment, learns to estimate the future rewards from each action in each state. QL and SARSA are both foundational TD algorithms that are identical in almost all respects except for the expression used for bootstrapping existing Q-values. </a:t>
            </a:r>
            <a:endParaRPr sz="3400">
              <a:solidFill>
                <a:schemeClr val="dk1"/>
              </a:solidFill>
              <a:latin typeface="Calibri"/>
              <a:ea typeface="Calibri"/>
              <a:cs typeface="Calibri"/>
              <a:sym typeface="Calibri"/>
            </a:endParaRPr>
          </a:p>
          <a:p>
            <a:pPr indent="0" lvl="0" marL="0" rtl="0" algn="just">
              <a:lnSpc>
                <a:spcPct val="115000"/>
              </a:lnSpc>
              <a:spcBef>
                <a:spcPts val="0"/>
              </a:spcBef>
              <a:spcAft>
                <a:spcPts val="0"/>
              </a:spcAft>
              <a:buClr>
                <a:schemeClr val="dk1"/>
              </a:buClr>
              <a:buSzPts val="1100"/>
              <a:buFont typeface="Arial"/>
              <a:buNone/>
            </a:pPr>
            <a:r>
              <a:t/>
            </a:r>
            <a:endParaRPr sz="3800">
              <a:solidFill>
                <a:schemeClr val="dk1"/>
              </a:solidFill>
              <a:latin typeface="Calibri"/>
              <a:ea typeface="Calibri"/>
              <a:cs typeface="Calibri"/>
              <a:sym typeface="Calibri"/>
            </a:endParaRPr>
          </a:p>
        </p:txBody>
      </p:sp>
      <p:pic>
        <p:nvPicPr>
          <p:cNvPr id="133" name="Google Shape;133;p13"/>
          <p:cNvPicPr preferRelativeResize="0"/>
          <p:nvPr/>
        </p:nvPicPr>
        <p:blipFill>
          <a:blip r:embed="rId13">
            <a:alphaModFix/>
          </a:blip>
          <a:stretch>
            <a:fillRect/>
          </a:stretch>
        </p:blipFill>
        <p:spPr>
          <a:xfrm>
            <a:off x="1600200" y="46634412"/>
            <a:ext cx="7772399" cy="10058388"/>
          </a:xfrm>
          <a:prstGeom prst="rect">
            <a:avLst/>
          </a:prstGeom>
          <a:noFill/>
          <a:ln>
            <a:noFill/>
          </a:ln>
        </p:spPr>
      </p:pic>
      <p:sp>
        <p:nvSpPr>
          <p:cNvPr id="134" name="Google Shape;134;p13"/>
          <p:cNvSpPr txBox="1"/>
          <p:nvPr/>
        </p:nvSpPr>
        <p:spPr>
          <a:xfrm>
            <a:off x="34212282" y="3657595"/>
            <a:ext cx="8547300" cy="19786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900"/>
              </a:spcBef>
              <a:spcAft>
                <a:spcPts val="0"/>
              </a:spcAft>
              <a:buClr>
                <a:schemeClr val="dk1"/>
              </a:buClr>
              <a:buSzPts val="1100"/>
              <a:buFont typeface="Arial"/>
              <a:buNone/>
            </a:pPr>
            <a:r>
              <a:t/>
            </a:r>
            <a:endParaRPr b="1" sz="500">
              <a:solidFill>
                <a:srgbClr val="2D3B45"/>
              </a:solidFill>
              <a:latin typeface="Calibri"/>
              <a:ea typeface="Calibri"/>
              <a:cs typeface="Calibri"/>
              <a:sym typeface="Calibri"/>
            </a:endParaRPr>
          </a:p>
          <a:p>
            <a:pPr indent="0" lvl="0" marL="0" rtl="0" algn="l">
              <a:lnSpc>
                <a:spcPct val="115000"/>
              </a:lnSpc>
              <a:spcBef>
                <a:spcPts val="900"/>
              </a:spcBef>
              <a:spcAft>
                <a:spcPts val="0"/>
              </a:spcAft>
              <a:buClr>
                <a:schemeClr val="dk1"/>
              </a:buClr>
              <a:buSzPts val="1100"/>
              <a:buFont typeface="Arial"/>
              <a:buNone/>
            </a:pPr>
            <a:r>
              <a:rPr b="1" lang="en" sz="4000">
                <a:solidFill>
                  <a:srgbClr val="2D3B45"/>
                </a:solidFill>
                <a:latin typeface="Calibri"/>
                <a:ea typeface="Calibri"/>
                <a:cs typeface="Calibri"/>
                <a:sym typeface="Calibri"/>
              </a:rPr>
              <a:t>Claim</a:t>
            </a:r>
            <a:r>
              <a:rPr lang="en" sz="4000">
                <a:solidFill>
                  <a:srgbClr val="2D3B45"/>
                </a:solidFill>
                <a:latin typeface="Calibri"/>
                <a:ea typeface="Calibri"/>
                <a:cs typeface="Calibri"/>
                <a:sym typeface="Calibri"/>
              </a:rPr>
              <a:t>:</a:t>
            </a:r>
            <a:endParaRPr sz="4000">
              <a:solidFill>
                <a:srgbClr val="2D3B45"/>
              </a:solidFill>
              <a:latin typeface="Calibri"/>
              <a:ea typeface="Calibri"/>
              <a:cs typeface="Calibri"/>
              <a:sym typeface="Calibri"/>
            </a:endParaRPr>
          </a:p>
          <a:p>
            <a:pPr indent="0" lvl="0" marL="0" rtl="0" algn="l">
              <a:lnSpc>
                <a:spcPct val="115000"/>
              </a:lnSpc>
              <a:spcBef>
                <a:spcPts val="900"/>
              </a:spcBef>
              <a:spcAft>
                <a:spcPts val="0"/>
              </a:spcAft>
              <a:buClr>
                <a:schemeClr val="dk1"/>
              </a:buClr>
              <a:buSzPts val="1100"/>
              <a:buFont typeface="Arial"/>
              <a:buNone/>
            </a:pPr>
            <a:r>
              <a:t/>
            </a:r>
            <a:endParaRPr sz="500">
              <a:solidFill>
                <a:srgbClr val="2D3B45"/>
              </a:solidFill>
              <a:latin typeface="Calibri"/>
              <a:ea typeface="Calibri"/>
              <a:cs typeface="Calibri"/>
              <a:sym typeface="Calibri"/>
            </a:endParaRPr>
          </a:p>
          <a:p>
            <a:pPr indent="0" lvl="0" marL="0" rtl="0" algn="l">
              <a:lnSpc>
                <a:spcPct val="115000"/>
              </a:lnSpc>
              <a:spcBef>
                <a:spcPts val="900"/>
              </a:spcBef>
              <a:spcAft>
                <a:spcPts val="0"/>
              </a:spcAft>
              <a:buClr>
                <a:schemeClr val="dk1"/>
              </a:buClr>
              <a:buSzPts val="1100"/>
              <a:buFont typeface="Arial"/>
              <a:buNone/>
            </a:pPr>
            <a:r>
              <a:t/>
            </a:r>
            <a:endParaRPr sz="500">
              <a:solidFill>
                <a:srgbClr val="2D3B45"/>
              </a:solidFill>
              <a:latin typeface="Calibri"/>
              <a:ea typeface="Calibri"/>
              <a:cs typeface="Calibri"/>
              <a:sym typeface="Calibri"/>
            </a:endParaRPr>
          </a:p>
          <a:p>
            <a:pPr indent="0" lvl="0" marL="0" rtl="0" algn="l">
              <a:lnSpc>
                <a:spcPct val="115000"/>
              </a:lnSpc>
              <a:spcBef>
                <a:spcPts val="900"/>
              </a:spcBef>
              <a:spcAft>
                <a:spcPts val="0"/>
              </a:spcAft>
              <a:buClr>
                <a:schemeClr val="dk1"/>
              </a:buClr>
              <a:buSzPts val="1100"/>
              <a:buFont typeface="Arial"/>
              <a:buNone/>
            </a:pPr>
            <a:r>
              <a:t/>
            </a:r>
            <a:endParaRPr sz="500">
              <a:solidFill>
                <a:srgbClr val="2D3B45"/>
              </a:solidFill>
              <a:latin typeface="Calibri"/>
              <a:ea typeface="Calibri"/>
              <a:cs typeface="Calibri"/>
              <a:sym typeface="Calibri"/>
            </a:endParaRPr>
          </a:p>
          <a:p>
            <a:pPr indent="0" lvl="0" marL="0" rtl="0" algn="l">
              <a:lnSpc>
                <a:spcPct val="115000"/>
              </a:lnSpc>
              <a:spcBef>
                <a:spcPts val="900"/>
              </a:spcBef>
              <a:spcAft>
                <a:spcPts val="0"/>
              </a:spcAft>
              <a:buClr>
                <a:schemeClr val="dk1"/>
              </a:buClr>
              <a:buSzPts val="1100"/>
              <a:buFont typeface="Arial"/>
              <a:buNone/>
            </a:pPr>
            <a:r>
              <a:rPr lang="en" sz="3000">
                <a:solidFill>
                  <a:srgbClr val="2D3B45"/>
                </a:solidFill>
                <a:latin typeface="Calibri"/>
                <a:ea typeface="Calibri"/>
                <a:cs typeface="Calibri"/>
                <a:sym typeface="Calibri"/>
              </a:rPr>
              <a:t>There exists a training configuration where the averaged converged performance of QL beats SARSA</a:t>
            </a:r>
            <a:endParaRPr sz="3000">
              <a:solidFill>
                <a:srgbClr val="2D3B45"/>
              </a:solidFill>
              <a:latin typeface="Calibri"/>
              <a:ea typeface="Calibri"/>
              <a:cs typeface="Calibri"/>
              <a:sym typeface="Calibri"/>
            </a:endParaRPr>
          </a:p>
          <a:p>
            <a:pPr indent="0" lvl="0" marL="0" rtl="0" algn="l">
              <a:lnSpc>
                <a:spcPct val="115000"/>
              </a:lnSpc>
              <a:spcBef>
                <a:spcPts val="900"/>
              </a:spcBef>
              <a:spcAft>
                <a:spcPts val="0"/>
              </a:spcAft>
              <a:buClr>
                <a:schemeClr val="dk1"/>
              </a:buClr>
              <a:buSzPts val="1100"/>
              <a:buFont typeface="Arial"/>
              <a:buNone/>
            </a:pPr>
            <a:r>
              <a:rPr b="1" lang="en" sz="3500">
                <a:solidFill>
                  <a:schemeClr val="dk1"/>
                </a:solidFill>
                <a:latin typeface="Calibri"/>
                <a:ea typeface="Calibri"/>
                <a:cs typeface="Calibri"/>
                <a:sym typeface="Calibri"/>
              </a:rPr>
              <a:t>Assumptions:</a:t>
            </a:r>
            <a:endParaRPr sz="35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2200">
                <a:solidFill>
                  <a:schemeClr val="dk1"/>
                </a:solidFill>
                <a:latin typeface="Calibri"/>
                <a:ea typeface="Calibri"/>
                <a:cs typeface="Calibri"/>
                <a:sym typeface="Calibri"/>
              </a:rPr>
              <a:t>How the change in update rule can snowball into a drastic performance difference is described by the following causal model:</a:t>
            </a:r>
            <a:endParaRPr sz="2200">
              <a:solidFill>
                <a:schemeClr val="dk1"/>
              </a:solidFill>
              <a:latin typeface="Calibri"/>
              <a:ea typeface="Calibri"/>
              <a:cs typeface="Calibri"/>
              <a:sym typeface="Calibri"/>
            </a:endParaRPr>
          </a:p>
          <a:p>
            <a:pPr indent="-368300" lvl="0" marL="457200" rtl="0" algn="l">
              <a:lnSpc>
                <a:spcPct val="115000"/>
              </a:lnSpc>
              <a:spcBef>
                <a:spcPts val="0"/>
              </a:spcBef>
              <a:spcAft>
                <a:spcPts val="0"/>
              </a:spcAft>
              <a:buClr>
                <a:schemeClr val="dk1"/>
              </a:buClr>
              <a:buSzPts val="2200"/>
              <a:buFont typeface="Calibri"/>
              <a:buAutoNum type="arabicPeriod"/>
            </a:pPr>
            <a:r>
              <a:rPr lang="en" sz="2200">
                <a:solidFill>
                  <a:schemeClr val="dk1"/>
                </a:solidFill>
                <a:latin typeface="Calibri"/>
                <a:ea typeface="Calibri"/>
                <a:cs typeface="Calibri"/>
                <a:sym typeface="Calibri"/>
              </a:rPr>
              <a:t>A change in the update rule changes how the Q-table is updated</a:t>
            </a:r>
            <a:endParaRPr sz="2200">
              <a:solidFill>
                <a:schemeClr val="dk1"/>
              </a:solidFill>
              <a:latin typeface="Calibri"/>
              <a:ea typeface="Calibri"/>
              <a:cs typeface="Calibri"/>
              <a:sym typeface="Calibri"/>
            </a:endParaRPr>
          </a:p>
          <a:p>
            <a:pPr indent="-368300" lvl="0" marL="457200" rtl="0" algn="l">
              <a:lnSpc>
                <a:spcPct val="115000"/>
              </a:lnSpc>
              <a:spcBef>
                <a:spcPts val="0"/>
              </a:spcBef>
              <a:spcAft>
                <a:spcPts val="0"/>
              </a:spcAft>
              <a:buClr>
                <a:schemeClr val="dk1"/>
              </a:buClr>
              <a:buSzPts val="2200"/>
              <a:buFont typeface="Calibri"/>
              <a:buAutoNum type="arabicPeriod"/>
            </a:pPr>
            <a:r>
              <a:rPr lang="en" sz="2200">
                <a:solidFill>
                  <a:schemeClr val="dk1"/>
                </a:solidFill>
                <a:latin typeface="Calibri"/>
                <a:ea typeface="Calibri"/>
                <a:cs typeface="Calibri"/>
                <a:sym typeface="Calibri"/>
              </a:rPr>
              <a:t>The Q-table determines the behavior policy π of the agent when it exploits</a:t>
            </a:r>
            <a:endParaRPr sz="2200">
              <a:solidFill>
                <a:schemeClr val="dk1"/>
              </a:solidFill>
              <a:latin typeface="Calibri"/>
              <a:ea typeface="Calibri"/>
              <a:cs typeface="Calibri"/>
              <a:sym typeface="Calibri"/>
            </a:endParaRPr>
          </a:p>
          <a:p>
            <a:pPr indent="-368300" lvl="0" marL="457200" rtl="0" algn="l">
              <a:lnSpc>
                <a:spcPct val="115000"/>
              </a:lnSpc>
              <a:spcBef>
                <a:spcPts val="0"/>
              </a:spcBef>
              <a:spcAft>
                <a:spcPts val="0"/>
              </a:spcAft>
              <a:buClr>
                <a:schemeClr val="dk1"/>
              </a:buClr>
              <a:buSzPts val="2200"/>
              <a:buFont typeface="Calibri"/>
              <a:buAutoNum type="arabicPeriod"/>
            </a:pPr>
            <a:r>
              <a:rPr lang="en" sz="2200">
                <a:solidFill>
                  <a:schemeClr val="dk1"/>
                </a:solidFill>
                <a:latin typeface="Calibri"/>
                <a:ea typeface="Calibri"/>
                <a:cs typeface="Calibri"/>
                <a:sym typeface="Calibri"/>
              </a:rPr>
              <a:t>π determines which actions are taken. This affects states s and rewards r that the agent experiences </a:t>
            </a:r>
            <a:endParaRPr sz="2200">
              <a:solidFill>
                <a:schemeClr val="dk1"/>
              </a:solidFill>
              <a:latin typeface="Calibri"/>
              <a:ea typeface="Calibri"/>
              <a:cs typeface="Calibri"/>
              <a:sym typeface="Calibri"/>
            </a:endParaRPr>
          </a:p>
          <a:p>
            <a:pPr indent="-368300" lvl="0" marL="457200" rtl="0" algn="l">
              <a:lnSpc>
                <a:spcPct val="115000"/>
              </a:lnSpc>
              <a:spcBef>
                <a:spcPts val="0"/>
              </a:spcBef>
              <a:spcAft>
                <a:spcPts val="0"/>
              </a:spcAft>
              <a:buClr>
                <a:schemeClr val="dk1"/>
              </a:buClr>
              <a:buSzPts val="2200"/>
              <a:buFont typeface="Calibri"/>
              <a:buAutoNum type="arabicPeriod"/>
            </a:pPr>
            <a:r>
              <a:rPr lang="en" sz="2200">
                <a:solidFill>
                  <a:schemeClr val="dk1"/>
                </a:solidFill>
                <a:latin typeface="Calibri"/>
                <a:ea typeface="Calibri"/>
                <a:cs typeface="Calibri"/>
                <a:sym typeface="Calibri"/>
              </a:rPr>
              <a:t>π and the s, a, r experienced further affects how the Q-table is updated</a:t>
            </a:r>
            <a:endParaRPr sz="2200">
              <a:solidFill>
                <a:schemeClr val="dk1"/>
              </a:solidFill>
              <a:latin typeface="Calibri"/>
              <a:ea typeface="Calibri"/>
              <a:cs typeface="Calibri"/>
              <a:sym typeface="Calibri"/>
            </a:endParaRPr>
          </a:p>
          <a:p>
            <a:pPr indent="-368300" lvl="0" marL="457200" rtl="0" algn="l">
              <a:lnSpc>
                <a:spcPct val="115000"/>
              </a:lnSpc>
              <a:spcBef>
                <a:spcPts val="0"/>
              </a:spcBef>
              <a:spcAft>
                <a:spcPts val="0"/>
              </a:spcAft>
              <a:buClr>
                <a:schemeClr val="dk1"/>
              </a:buClr>
              <a:buSzPts val="2200"/>
              <a:buFont typeface="Calibri"/>
              <a:buAutoNum type="arabicPeriod"/>
            </a:pPr>
            <a:r>
              <a:rPr lang="en" sz="2200">
                <a:solidFill>
                  <a:schemeClr val="dk1"/>
                </a:solidFill>
                <a:latin typeface="Calibri"/>
                <a:ea typeface="Calibri"/>
                <a:cs typeface="Calibri"/>
                <a:sym typeface="Calibri"/>
              </a:rPr>
              <a:t>Steps #1-4 repeat in a feedback loop for a set number of timesteps and episodes.</a:t>
            </a:r>
            <a:endParaRPr sz="2200">
              <a:solidFill>
                <a:schemeClr val="dk1"/>
              </a:solidFill>
              <a:latin typeface="Calibri"/>
              <a:ea typeface="Calibri"/>
              <a:cs typeface="Calibri"/>
              <a:sym typeface="Calibri"/>
            </a:endParaRPr>
          </a:p>
          <a:p>
            <a:pPr indent="-368300" lvl="0" marL="457200" rtl="0" algn="l">
              <a:lnSpc>
                <a:spcPct val="115000"/>
              </a:lnSpc>
              <a:spcBef>
                <a:spcPts val="0"/>
              </a:spcBef>
              <a:spcAft>
                <a:spcPts val="0"/>
              </a:spcAft>
              <a:buClr>
                <a:schemeClr val="dk1"/>
              </a:buClr>
              <a:buSzPts val="2200"/>
              <a:buFont typeface="Calibri"/>
              <a:buAutoNum type="arabicPeriod"/>
            </a:pPr>
            <a:r>
              <a:rPr lang="en" sz="2200">
                <a:solidFill>
                  <a:schemeClr val="dk1"/>
                </a:solidFill>
                <a:latin typeface="Calibri"/>
                <a:ea typeface="Calibri"/>
                <a:cs typeface="Calibri"/>
                <a:sym typeface="Calibri"/>
              </a:rPr>
              <a:t>The final average convergence values are averaged over T trials to make for average convergence value P</a:t>
            </a:r>
            <a:endParaRPr sz="2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 sz="3500">
                <a:solidFill>
                  <a:schemeClr val="dk1"/>
                </a:solidFill>
                <a:latin typeface="Calibri"/>
                <a:ea typeface="Calibri"/>
                <a:cs typeface="Calibri"/>
                <a:sym typeface="Calibri"/>
              </a:rPr>
              <a:t>Lemmas:</a:t>
            </a:r>
            <a:endParaRPr b="1" sz="3500">
              <a:solidFill>
                <a:schemeClr val="dk1"/>
              </a:solidFill>
              <a:latin typeface="Calibri"/>
              <a:ea typeface="Calibri"/>
              <a:cs typeface="Calibri"/>
              <a:sym typeface="Calibri"/>
            </a:endParaRPr>
          </a:p>
          <a:p>
            <a:pPr indent="-400050" lvl="0" marL="457200" rtl="0" algn="l">
              <a:lnSpc>
                <a:spcPct val="115000"/>
              </a:lnSpc>
              <a:spcBef>
                <a:spcPts val="0"/>
              </a:spcBef>
              <a:spcAft>
                <a:spcPts val="0"/>
              </a:spcAft>
              <a:buClr>
                <a:schemeClr val="dk1"/>
              </a:buClr>
              <a:buSzPts val="2700"/>
              <a:buFont typeface="Calibri"/>
              <a:buAutoNum type="arabicPeriod"/>
            </a:pPr>
            <a:r>
              <a:rPr lang="en" sz="2700">
                <a:solidFill>
                  <a:schemeClr val="dk1"/>
                </a:solidFill>
                <a:latin typeface="Calibri"/>
                <a:ea typeface="Calibri"/>
                <a:cs typeface="Calibri"/>
                <a:sym typeface="Calibri"/>
              </a:rPr>
              <a:t>SARSA’s lower convergence in Evaluation #31 is due to not reaching the goal state at all in the majority of training instances</a:t>
            </a:r>
            <a:endParaRPr sz="2700">
              <a:solidFill>
                <a:schemeClr val="dk1"/>
              </a:solidFill>
              <a:latin typeface="Calibri"/>
              <a:ea typeface="Calibri"/>
              <a:cs typeface="Calibri"/>
              <a:sym typeface="Calibri"/>
            </a:endParaRPr>
          </a:p>
          <a:p>
            <a:pPr indent="-400050" lvl="0" marL="457200" rtl="0" algn="l">
              <a:lnSpc>
                <a:spcPct val="115000"/>
              </a:lnSpc>
              <a:spcBef>
                <a:spcPts val="0"/>
              </a:spcBef>
              <a:spcAft>
                <a:spcPts val="0"/>
              </a:spcAft>
              <a:buClr>
                <a:schemeClr val="dk1"/>
              </a:buClr>
              <a:buSzPts val="2700"/>
              <a:buFont typeface="Calibri"/>
              <a:buAutoNum type="arabicPeriod"/>
            </a:pPr>
            <a:r>
              <a:rPr lang="en" sz="2700">
                <a:solidFill>
                  <a:schemeClr val="dk1"/>
                </a:solidFill>
                <a:latin typeface="Calibri"/>
                <a:ea typeface="Calibri"/>
                <a:cs typeface="Calibri"/>
                <a:sym typeface="Calibri"/>
              </a:rPr>
              <a:t>SARSA’s update rule is exactly equivalent to QL’s update rule with probability 1-</a:t>
            </a:r>
            <a:r>
              <a:rPr lang="en" sz="2700">
                <a:solidFill>
                  <a:srgbClr val="222222"/>
                </a:solidFill>
                <a:highlight>
                  <a:srgbClr val="FFFFFF"/>
                </a:highlight>
                <a:latin typeface="Calibri"/>
                <a:ea typeface="Calibri"/>
                <a:cs typeface="Calibri"/>
                <a:sym typeface="Calibri"/>
              </a:rPr>
              <a:t>ε</a:t>
            </a:r>
            <a:r>
              <a:rPr lang="en" sz="2700">
                <a:solidFill>
                  <a:schemeClr val="dk1"/>
                </a:solidFill>
                <a:latin typeface="Calibri"/>
                <a:ea typeface="Calibri"/>
                <a:cs typeface="Calibri"/>
                <a:sym typeface="Calibri"/>
              </a:rPr>
              <a:t>. SARSA’s bootstrapping expression, on average, can be expressed as</a:t>
            </a:r>
            <a:endParaRPr sz="2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24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2700">
              <a:solidFill>
                <a:schemeClr val="dk1"/>
              </a:solidFill>
              <a:latin typeface="Calibri"/>
              <a:ea typeface="Calibri"/>
              <a:cs typeface="Calibri"/>
              <a:sym typeface="Calibri"/>
            </a:endParaRPr>
          </a:p>
          <a:p>
            <a:pPr indent="-400050" lvl="0" marL="457200" rtl="0" algn="l">
              <a:lnSpc>
                <a:spcPct val="115000"/>
              </a:lnSpc>
              <a:spcBef>
                <a:spcPts val="0"/>
              </a:spcBef>
              <a:spcAft>
                <a:spcPts val="0"/>
              </a:spcAft>
              <a:buClr>
                <a:schemeClr val="dk1"/>
              </a:buClr>
              <a:buSzPts val="2700"/>
              <a:buFont typeface="Calibri"/>
              <a:buAutoNum type="arabicPeriod"/>
            </a:pPr>
            <a:r>
              <a:rPr lang="en" sz="2700">
                <a:solidFill>
                  <a:schemeClr val="dk1"/>
                </a:solidFill>
                <a:latin typeface="Calibri"/>
                <a:ea typeface="Calibri"/>
                <a:cs typeface="Calibri"/>
                <a:sym typeface="Calibri"/>
              </a:rPr>
              <a:t>Insufficient exploration must be the cause for not reaching the goal state</a:t>
            </a:r>
            <a:endParaRPr sz="2700">
              <a:solidFill>
                <a:schemeClr val="dk1"/>
              </a:solidFill>
              <a:latin typeface="Calibri"/>
              <a:ea typeface="Calibri"/>
              <a:cs typeface="Calibri"/>
              <a:sym typeface="Calibri"/>
            </a:endParaRPr>
          </a:p>
          <a:p>
            <a:pPr indent="-400050" lvl="0" marL="457200" rtl="0" algn="l">
              <a:lnSpc>
                <a:spcPct val="115000"/>
              </a:lnSpc>
              <a:spcBef>
                <a:spcPts val="0"/>
              </a:spcBef>
              <a:spcAft>
                <a:spcPts val="0"/>
              </a:spcAft>
              <a:buClr>
                <a:schemeClr val="dk1"/>
              </a:buClr>
              <a:buSzPts val="2700"/>
              <a:buFont typeface="Calibri"/>
              <a:buAutoNum type="arabicPeriod"/>
            </a:pPr>
            <a:r>
              <a:rPr lang="en" sz="2700">
                <a:solidFill>
                  <a:schemeClr val="dk1"/>
                </a:solidFill>
                <a:latin typeface="Calibri"/>
                <a:ea typeface="Calibri"/>
                <a:cs typeface="Calibri"/>
                <a:sym typeface="Calibri"/>
              </a:rPr>
              <a:t>Information about rewards propagate slowly. Information about immediate punishments comes well before the reward can.</a:t>
            </a:r>
            <a:endParaRPr sz="2700">
              <a:solidFill>
                <a:schemeClr val="dk1"/>
              </a:solidFill>
              <a:latin typeface="Calibri"/>
              <a:ea typeface="Calibri"/>
              <a:cs typeface="Calibri"/>
              <a:sym typeface="Calibri"/>
            </a:endParaRPr>
          </a:p>
          <a:p>
            <a:pPr indent="-400050" lvl="0" marL="457200" rtl="0" algn="l">
              <a:lnSpc>
                <a:spcPct val="115000"/>
              </a:lnSpc>
              <a:spcBef>
                <a:spcPts val="0"/>
              </a:spcBef>
              <a:spcAft>
                <a:spcPts val="0"/>
              </a:spcAft>
              <a:buClr>
                <a:schemeClr val="dk1"/>
              </a:buClr>
              <a:buSzPts val="2700"/>
              <a:buFont typeface="Calibri"/>
              <a:buAutoNum type="arabicPeriod"/>
            </a:pPr>
            <a:r>
              <a:rPr lang="en" sz="2700">
                <a:solidFill>
                  <a:schemeClr val="dk1"/>
                </a:solidFill>
                <a:latin typeface="Calibri"/>
                <a:ea typeface="Calibri"/>
                <a:cs typeface="Calibri"/>
                <a:sym typeface="Calibri"/>
              </a:rPr>
              <a:t>SARSA’s evaluation of going to the ‘bottleneck’ state in Gridworld #31 is a negative Q-value, whereas for QL it is a 0 Q-value. SARSA avoids going to the bottleneck again.</a:t>
            </a:r>
            <a:endParaRPr sz="2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27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2700">
                <a:solidFill>
                  <a:schemeClr val="dk1"/>
                </a:solidFill>
                <a:latin typeface="Calibri"/>
                <a:ea typeface="Calibri"/>
                <a:cs typeface="Calibri"/>
                <a:sym typeface="Calibri"/>
              </a:rPr>
              <a:t>QL can converge to a higher performance than SARSA because SARSA's accounting of ε-probability exploration's costs prevents further exploration of the environment, causing it to converge at a suboptimal policy.</a:t>
            </a:r>
            <a:endParaRPr sz="27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2700">
                <a:solidFill>
                  <a:schemeClr val="dk1"/>
                </a:solidFill>
                <a:latin typeface="Calibri"/>
                <a:ea typeface="Calibri"/>
                <a:cs typeface="Calibri"/>
                <a:sym typeface="Calibri"/>
              </a:rPr>
              <a:t>∎</a:t>
            </a:r>
            <a:endParaRPr sz="2700">
              <a:solidFill>
                <a:schemeClr val="dk1"/>
              </a:solidFill>
              <a:latin typeface="Calibri"/>
              <a:ea typeface="Calibri"/>
              <a:cs typeface="Calibri"/>
              <a:sym typeface="Calibri"/>
            </a:endParaRPr>
          </a:p>
        </p:txBody>
      </p:sp>
      <p:pic>
        <p:nvPicPr>
          <p:cNvPr id="135" name="Google Shape;135;p13"/>
          <p:cNvPicPr preferRelativeResize="0"/>
          <p:nvPr/>
        </p:nvPicPr>
        <p:blipFill>
          <a:blip r:embed="rId14">
            <a:alphaModFix/>
          </a:blip>
          <a:stretch>
            <a:fillRect/>
          </a:stretch>
        </p:blipFill>
        <p:spPr>
          <a:xfrm>
            <a:off x="36694872" y="15695560"/>
            <a:ext cx="3438711" cy="685200"/>
          </a:xfrm>
          <a:prstGeom prst="rect">
            <a:avLst/>
          </a:prstGeom>
          <a:noFill/>
          <a:ln>
            <a:noFill/>
          </a:ln>
        </p:spPr>
      </p:pic>
      <p:pic>
        <p:nvPicPr>
          <p:cNvPr id="136" name="Google Shape;136;p13"/>
          <p:cNvPicPr preferRelativeResize="0"/>
          <p:nvPr/>
        </p:nvPicPr>
        <p:blipFill>
          <a:blip r:embed="rId15">
            <a:alphaModFix/>
          </a:blip>
          <a:stretch>
            <a:fillRect/>
          </a:stretch>
        </p:blipFill>
        <p:spPr>
          <a:xfrm>
            <a:off x="36041072" y="3989600"/>
            <a:ext cx="6718500" cy="1416673"/>
          </a:xfrm>
          <a:prstGeom prst="rect">
            <a:avLst/>
          </a:prstGeom>
          <a:noFill/>
          <a:ln>
            <a:noFill/>
          </a:ln>
        </p:spPr>
      </p:pic>
      <p:pic>
        <p:nvPicPr>
          <p:cNvPr id="137" name="Google Shape;137;p13"/>
          <p:cNvPicPr preferRelativeResize="0"/>
          <p:nvPr/>
        </p:nvPicPr>
        <p:blipFill>
          <a:blip r:embed="rId16">
            <a:alphaModFix/>
          </a:blip>
          <a:stretch>
            <a:fillRect/>
          </a:stretch>
        </p:blipFill>
        <p:spPr>
          <a:xfrm>
            <a:off x="23788688" y="52712763"/>
            <a:ext cx="7286625" cy="3064922"/>
          </a:xfrm>
          <a:prstGeom prst="rect">
            <a:avLst/>
          </a:prstGeom>
          <a:noFill/>
          <a:ln>
            <a:noFill/>
          </a:ln>
        </p:spPr>
      </p:pic>
      <p:sp>
        <p:nvSpPr>
          <p:cNvPr id="138" name="Google Shape;138;p13"/>
          <p:cNvSpPr/>
          <p:nvPr/>
        </p:nvSpPr>
        <p:spPr>
          <a:xfrm>
            <a:off x="5541264" y="39784794"/>
            <a:ext cx="4590300" cy="31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Times New Roman"/>
              <a:ea typeface="Times New Roman"/>
              <a:cs typeface="Times New Roman"/>
              <a:sym typeface="Times New Roman"/>
            </a:endParaRPr>
          </a:p>
        </p:txBody>
      </p:sp>
      <p:sp>
        <p:nvSpPr>
          <p:cNvPr id="139" name="Google Shape;139;p13"/>
          <p:cNvSpPr txBox="1"/>
          <p:nvPr/>
        </p:nvSpPr>
        <p:spPr>
          <a:xfrm>
            <a:off x="5541264" y="39760907"/>
            <a:ext cx="4590300" cy="31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Times New Roman"/>
                <a:ea typeface="Times New Roman"/>
                <a:cs typeface="Times New Roman"/>
                <a:sym typeface="Times New Roman"/>
              </a:rPr>
              <a:t>Image Sourced From: https://github.com/damat-le/gym-simplegrid</a:t>
            </a:r>
            <a:endParaRPr sz="1200">
              <a:solidFill>
                <a:schemeClr val="dk1"/>
              </a:solidFill>
              <a:latin typeface="Times New Roman"/>
              <a:ea typeface="Times New Roman"/>
              <a:cs typeface="Times New Roman"/>
              <a:sym typeface="Times New Roman"/>
            </a:endParaRPr>
          </a:p>
        </p:txBody>
      </p:sp>
      <p:sp>
        <p:nvSpPr>
          <p:cNvPr id="140" name="Google Shape;140;p13"/>
          <p:cNvSpPr/>
          <p:nvPr/>
        </p:nvSpPr>
        <p:spPr>
          <a:xfrm>
            <a:off x="24688039" y="55467270"/>
            <a:ext cx="4590300" cy="313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Times New Roman"/>
              <a:ea typeface="Times New Roman"/>
              <a:cs typeface="Times New Roman"/>
              <a:sym typeface="Times New Roman"/>
            </a:endParaRPr>
          </a:p>
        </p:txBody>
      </p:sp>
      <p:sp>
        <p:nvSpPr>
          <p:cNvPr id="141" name="Google Shape;141;p13"/>
          <p:cNvSpPr txBox="1"/>
          <p:nvPr/>
        </p:nvSpPr>
        <p:spPr>
          <a:xfrm>
            <a:off x="23788700" y="55780559"/>
            <a:ext cx="6718500" cy="313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Times New Roman"/>
                <a:ea typeface="Times New Roman"/>
                <a:cs typeface="Times New Roman"/>
                <a:sym typeface="Times New Roman"/>
              </a:rPr>
              <a:t>Image Sourced From: </a:t>
            </a:r>
            <a:r>
              <a:rPr lang="en" sz="1200">
                <a:solidFill>
                  <a:schemeClr val="dk1"/>
                </a:solidFill>
                <a:latin typeface="Times New Roman"/>
                <a:ea typeface="Times New Roman"/>
                <a:cs typeface="Times New Roman"/>
                <a:sym typeface="Times New Roman"/>
              </a:rPr>
              <a:t>amazon.com/Nautical-Compass-Rose-Metal-Wall/dp/B09FCRRF6J?th=1</a:t>
            </a:r>
            <a:endParaRPr sz="1200">
              <a:solidFill>
                <a:schemeClr val="dk1"/>
              </a:solidFill>
              <a:latin typeface="Times New Roman"/>
              <a:ea typeface="Times New Roman"/>
              <a:cs typeface="Times New Roman"/>
              <a:sym typeface="Times New Roman"/>
            </a:endParaRPr>
          </a:p>
        </p:txBody>
      </p:sp>
      <p:sp>
        <p:nvSpPr>
          <p:cNvPr id="142" name="Google Shape;142;p13"/>
          <p:cNvSpPr/>
          <p:nvPr/>
        </p:nvSpPr>
        <p:spPr>
          <a:xfrm>
            <a:off x="12115800" y="12432094"/>
            <a:ext cx="9601200" cy="457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Times New Roman"/>
                <a:ea typeface="Times New Roman"/>
                <a:cs typeface="Times New Roman"/>
                <a:sym typeface="Times New Roman"/>
              </a:rPr>
              <a:t>Graph </a:t>
            </a:r>
            <a:r>
              <a:rPr lang="en" sz="1200">
                <a:solidFill>
                  <a:schemeClr val="dk1"/>
                </a:solidFill>
                <a:latin typeface="Times New Roman"/>
                <a:ea typeface="Times New Roman"/>
                <a:cs typeface="Times New Roman"/>
                <a:sym typeface="Times New Roman"/>
              </a:rPr>
              <a:t>Sourced From: Researcher</a:t>
            </a:r>
            <a:endParaRPr sz="1200">
              <a:latin typeface="Times New Roman"/>
              <a:ea typeface="Times New Roman"/>
              <a:cs typeface="Times New Roman"/>
              <a:sym typeface="Times New Roman"/>
            </a:endParaRPr>
          </a:p>
        </p:txBody>
      </p:sp>
      <p:pic>
        <p:nvPicPr>
          <p:cNvPr id="143" name="Google Shape;143;p13"/>
          <p:cNvPicPr preferRelativeResize="0"/>
          <p:nvPr/>
        </p:nvPicPr>
        <p:blipFill>
          <a:blip r:embed="rId17">
            <a:alphaModFix/>
          </a:blip>
          <a:stretch>
            <a:fillRect/>
          </a:stretch>
        </p:blipFill>
        <p:spPr>
          <a:xfrm>
            <a:off x="12118040" y="5257812"/>
            <a:ext cx="9601200" cy="7200900"/>
          </a:xfrm>
          <a:prstGeom prst="rect">
            <a:avLst/>
          </a:prstGeom>
          <a:noFill/>
          <a:ln cap="flat" cmpd="sng" w="28575">
            <a:solidFill>
              <a:srgbClr val="3D85C6"/>
            </a:solidFill>
            <a:prstDash val="solid"/>
            <a:round/>
            <a:headEnd len="sm" w="sm" type="none"/>
            <a:tailEnd len="sm" w="sm" type="none"/>
          </a:ln>
        </p:spPr>
      </p:pic>
      <p:sp>
        <p:nvSpPr>
          <p:cNvPr id="144" name="Google Shape;144;p13"/>
          <p:cNvSpPr/>
          <p:nvPr/>
        </p:nvSpPr>
        <p:spPr>
          <a:xfrm>
            <a:off x="23165150" y="9724100"/>
            <a:ext cx="3123900" cy="457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1"/>
                </a:solidFill>
                <a:latin typeface="Times New Roman"/>
                <a:ea typeface="Times New Roman"/>
                <a:cs typeface="Times New Roman"/>
                <a:sym typeface="Times New Roman"/>
              </a:rPr>
              <a:t>Graph Sourced From: Researcher</a:t>
            </a:r>
            <a:endParaRPr sz="900">
              <a:solidFill>
                <a:schemeClr val="dk1"/>
              </a:solidFill>
              <a:latin typeface="Times New Roman"/>
              <a:ea typeface="Times New Roman"/>
              <a:cs typeface="Times New Roman"/>
              <a:sym typeface="Times New Roman"/>
            </a:endParaRPr>
          </a:p>
        </p:txBody>
      </p:sp>
      <p:sp>
        <p:nvSpPr>
          <p:cNvPr id="145" name="Google Shape;145;p13"/>
          <p:cNvSpPr/>
          <p:nvPr/>
        </p:nvSpPr>
        <p:spPr>
          <a:xfrm>
            <a:off x="27249120" y="10287013"/>
            <a:ext cx="4114800" cy="457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1"/>
                </a:solidFill>
                <a:latin typeface="Times New Roman"/>
                <a:ea typeface="Times New Roman"/>
                <a:cs typeface="Times New Roman"/>
                <a:sym typeface="Times New Roman"/>
              </a:rPr>
              <a:t>Graph Sourced From: Researcher</a:t>
            </a:r>
            <a:endParaRPr sz="900">
              <a:latin typeface="Times New Roman"/>
              <a:ea typeface="Times New Roman"/>
              <a:cs typeface="Times New Roman"/>
              <a:sym typeface="Times New Roman"/>
            </a:endParaRPr>
          </a:p>
        </p:txBody>
      </p:sp>
      <p:sp>
        <p:nvSpPr>
          <p:cNvPr id="146" name="Google Shape;146;p13"/>
          <p:cNvSpPr/>
          <p:nvPr/>
        </p:nvSpPr>
        <p:spPr>
          <a:xfrm>
            <a:off x="27249120" y="16114913"/>
            <a:ext cx="4114800" cy="457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1"/>
                </a:solidFill>
                <a:latin typeface="Times New Roman"/>
                <a:ea typeface="Times New Roman"/>
                <a:cs typeface="Times New Roman"/>
                <a:sym typeface="Times New Roman"/>
              </a:rPr>
              <a:t>Graph Sourced From: Researcher</a:t>
            </a:r>
            <a:endParaRPr sz="900">
              <a:latin typeface="Times New Roman"/>
              <a:ea typeface="Times New Roman"/>
              <a:cs typeface="Times New Roman"/>
              <a:sym typeface="Times New Roman"/>
            </a:endParaRPr>
          </a:p>
        </p:txBody>
      </p:sp>
      <p:sp>
        <p:nvSpPr>
          <p:cNvPr id="147" name="Google Shape;147;p13"/>
          <p:cNvSpPr/>
          <p:nvPr/>
        </p:nvSpPr>
        <p:spPr>
          <a:xfrm>
            <a:off x="27249120" y="22314650"/>
            <a:ext cx="4114800" cy="457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1"/>
                </a:solidFill>
                <a:latin typeface="Times New Roman"/>
                <a:ea typeface="Times New Roman"/>
                <a:cs typeface="Times New Roman"/>
                <a:sym typeface="Times New Roman"/>
              </a:rPr>
              <a:t>Graph Sourced From: Researcher</a:t>
            </a:r>
            <a:endParaRPr sz="900">
              <a:latin typeface="Times New Roman"/>
              <a:ea typeface="Times New Roman"/>
              <a:cs typeface="Times New Roman"/>
              <a:sym typeface="Times New Roman"/>
            </a:endParaRPr>
          </a:p>
        </p:txBody>
      </p:sp>
      <p:sp>
        <p:nvSpPr>
          <p:cNvPr id="148" name="Google Shape;148;p13"/>
          <p:cNvSpPr/>
          <p:nvPr/>
        </p:nvSpPr>
        <p:spPr>
          <a:xfrm>
            <a:off x="23134600" y="22268750"/>
            <a:ext cx="3200400" cy="31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1"/>
                </a:solidFill>
                <a:latin typeface="Times New Roman"/>
                <a:ea typeface="Times New Roman"/>
                <a:cs typeface="Times New Roman"/>
                <a:sym typeface="Times New Roman"/>
              </a:rPr>
              <a:t>Graph Sourced From: Researcher</a:t>
            </a:r>
            <a:endParaRPr sz="900">
              <a:latin typeface="Times New Roman"/>
              <a:ea typeface="Times New Roman"/>
              <a:cs typeface="Times New Roman"/>
              <a:sym typeface="Times New Roman"/>
            </a:endParaRPr>
          </a:p>
        </p:txBody>
      </p:sp>
      <p:sp>
        <p:nvSpPr>
          <p:cNvPr id="149" name="Google Shape;149;p13"/>
          <p:cNvSpPr/>
          <p:nvPr/>
        </p:nvSpPr>
        <p:spPr>
          <a:xfrm>
            <a:off x="23545800" y="16762313"/>
            <a:ext cx="2112300" cy="31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1"/>
                </a:solidFill>
                <a:latin typeface="Times New Roman"/>
                <a:ea typeface="Times New Roman"/>
                <a:cs typeface="Times New Roman"/>
                <a:sym typeface="Times New Roman"/>
              </a:rPr>
              <a:t>Graph Sourced From: Researcher</a:t>
            </a:r>
            <a:endParaRPr sz="900">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4"/>
          <p:cNvSpPr txBox="1"/>
          <p:nvPr>
            <p:ph type="title"/>
          </p:nvPr>
        </p:nvSpPr>
        <p:spPr>
          <a:xfrm>
            <a:off x="1496160" y="4984280"/>
            <a:ext cx="40899000" cy="6414600"/>
          </a:xfrm>
          <a:prstGeom prst="rect">
            <a:avLst/>
          </a:prstGeom>
        </p:spPr>
        <p:txBody>
          <a:bodyPr anchorCtr="0" anchor="t" bIns="487600" lIns="487600" spcFirstLastPara="1" rIns="487600" wrap="square" tIns="487600">
            <a:normAutofit/>
          </a:bodyPr>
          <a:lstStyle/>
          <a:p>
            <a:pPr indent="0" lvl="0" marL="0" rtl="0" algn="l">
              <a:spcBef>
                <a:spcPts val="0"/>
              </a:spcBef>
              <a:spcAft>
                <a:spcPts val="0"/>
              </a:spcAft>
              <a:buNone/>
            </a:pPr>
            <a:r>
              <a:rPr lang="en"/>
              <a:t>s</a:t>
            </a:r>
            <a:endParaRPr/>
          </a:p>
        </p:txBody>
      </p:sp>
      <p:sp>
        <p:nvSpPr>
          <p:cNvPr id="155" name="Google Shape;155;p14"/>
          <p:cNvSpPr txBox="1"/>
          <p:nvPr>
            <p:ph idx="1" type="body"/>
          </p:nvPr>
        </p:nvSpPr>
        <p:spPr>
          <a:xfrm>
            <a:off x="1496160" y="12907720"/>
            <a:ext cx="40899000" cy="38263800"/>
          </a:xfrm>
          <a:prstGeom prst="rect">
            <a:avLst/>
          </a:prstGeom>
        </p:spPr>
        <p:txBody>
          <a:bodyPr anchorCtr="0" anchor="t" bIns="487600" lIns="487600" spcFirstLastPara="1" rIns="487600" wrap="square" tIns="487600">
            <a:normAutofit/>
          </a:bodyPr>
          <a:lstStyle/>
          <a:p>
            <a:pPr indent="0" lvl="0" marL="0" rtl="0" algn="l">
              <a:spcBef>
                <a:spcPts val="0"/>
              </a:spcBef>
              <a:spcAft>
                <a:spcPts val="6400"/>
              </a:spcAft>
              <a:buNone/>
            </a:pPr>
            <a:r>
              <a:t/>
            </a:r>
            <a:endParaRPr/>
          </a:p>
        </p:txBody>
      </p:sp>
      <p:sp>
        <p:nvSpPr>
          <p:cNvPr id="156" name="Google Shape;156;p14"/>
          <p:cNvSpPr/>
          <p:nvPr/>
        </p:nvSpPr>
        <p:spPr>
          <a:xfrm>
            <a:off x="-37941375" y="11289100"/>
            <a:ext cx="31089600" cy="2743200"/>
          </a:xfrm>
          <a:prstGeom prst="rect">
            <a:avLst/>
          </a:prstGeom>
          <a:solidFill>
            <a:srgbClr val="3D85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4"/>
          <p:cNvSpPr txBox="1"/>
          <p:nvPr/>
        </p:nvSpPr>
        <p:spPr>
          <a:xfrm>
            <a:off x="-37941374" y="11327275"/>
            <a:ext cx="31089600" cy="91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8500">
                <a:solidFill>
                  <a:srgbClr val="FFFFFF"/>
                </a:solidFill>
                <a:latin typeface="Comfortaa"/>
                <a:ea typeface="Comfortaa"/>
                <a:cs typeface="Comfortaa"/>
                <a:sym typeface="Comfortaa"/>
              </a:rPr>
              <a:t>Carelessness Over Caution: </a:t>
            </a:r>
            <a:endParaRPr b="1" sz="8500">
              <a:solidFill>
                <a:srgbClr val="FFFFFF"/>
              </a:solidFill>
              <a:latin typeface="Comfortaa"/>
              <a:ea typeface="Comfortaa"/>
              <a:cs typeface="Comfortaa"/>
              <a:sym typeface="Comfortaa"/>
            </a:endParaRPr>
          </a:p>
          <a:p>
            <a:pPr indent="0" lvl="0" marL="0" rtl="0" algn="ctr">
              <a:spcBef>
                <a:spcPts val="0"/>
              </a:spcBef>
              <a:spcAft>
                <a:spcPts val="0"/>
              </a:spcAft>
              <a:buClr>
                <a:srgbClr val="000000"/>
              </a:buClr>
              <a:buSzPts val="1100"/>
              <a:buFont typeface="Arial"/>
              <a:buNone/>
            </a:pPr>
            <a:r>
              <a:rPr b="1" lang="en" sz="5300">
                <a:solidFill>
                  <a:srgbClr val="FFFFFF"/>
                </a:solidFill>
                <a:latin typeface="Comfortaa"/>
                <a:ea typeface="Comfortaa"/>
                <a:cs typeface="Comfortaa"/>
                <a:sym typeface="Comfortaa"/>
              </a:rPr>
              <a:t>Understanding the Hidden Power Behind Off-Policy Reinforcement Learning Algorithms</a:t>
            </a:r>
            <a:endParaRPr b="1" sz="5300">
              <a:solidFill>
                <a:srgbClr val="FFFFFF"/>
              </a:solidFill>
              <a:latin typeface="Comfortaa"/>
              <a:ea typeface="Comfortaa"/>
              <a:cs typeface="Comfortaa"/>
              <a:sym typeface="Comfortaa"/>
            </a:endParaRPr>
          </a:p>
        </p:txBody>
      </p:sp>
      <p:sp>
        <p:nvSpPr>
          <p:cNvPr id="158" name="Google Shape;158;p14"/>
          <p:cNvSpPr/>
          <p:nvPr/>
        </p:nvSpPr>
        <p:spPr>
          <a:xfrm>
            <a:off x="-47528798" y="21229036"/>
            <a:ext cx="9573000" cy="13839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4"/>
          <p:cNvSpPr/>
          <p:nvPr/>
        </p:nvSpPr>
        <p:spPr>
          <a:xfrm>
            <a:off x="-47542563" y="20487588"/>
            <a:ext cx="9601200" cy="741600"/>
          </a:xfrm>
          <a:prstGeom prst="rect">
            <a:avLst/>
          </a:prstGeom>
          <a:solidFill>
            <a:srgbClr val="5B0F00"/>
          </a:solidFill>
          <a:ln cap="flat" cmpd="sng" w="9525">
            <a:solidFill>
              <a:srgbClr val="5B0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solidFill>
                  <a:srgbClr val="FFFFFF"/>
                </a:solidFill>
                <a:latin typeface="Comfortaa"/>
                <a:ea typeface="Comfortaa"/>
                <a:cs typeface="Comfortaa"/>
                <a:sym typeface="Comfortaa"/>
              </a:rPr>
              <a:t>The Parayil Metric</a:t>
            </a:r>
            <a:endParaRPr b="1" sz="3000">
              <a:solidFill>
                <a:srgbClr val="FFFFFF"/>
              </a:solidFill>
              <a:latin typeface="Comfortaa"/>
              <a:ea typeface="Comfortaa"/>
              <a:cs typeface="Comfortaa"/>
              <a:sym typeface="Comfortaa"/>
            </a:endParaRPr>
          </a:p>
        </p:txBody>
      </p:sp>
      <p:sp>
        <p:nvSpPr>
          <p:cNvPr id="160" name="Google Shape;160;p14"/>
          <p:cNvSpPr txBox="1"/>
          <p:nvPr/>
        </p:nvSpPr>
        <p:spPr>
          <a:xfrm>
            <a:off x="-47038185" y="26395171"/>
            <a:ext cx="8593200" cy="22341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pPr>
            <a:r>
              <a:rPr lang="en" sz="1600">
                <a:solidFill>
                  <a:schemeClr val="dk1"/>
                </a:solidFill>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sz="1600">
              <a:solidFill>
                <a:schemeClr val="dk1"/>
              </a:solidFill>
            </a:endParaRPr>
          </a:p>
          <a:p>
            <a:pPr indent="0" lvl="0" marL="0" rtl="0" algn="just">
              <a:lnSpc>
                <a:spcPct val="115000"/>
              </a:lnSpc>
              <a:spcBef>
                <a:spcPts val="0"/>
              </a:spcBef>
              <a:spcAft>
                <a:spcPts val="0"/>
              </a:spcAft>
              <a:buClr>
                <a:schemeClr val="dk1"/>
              </a:buClr>
              <a:buSzPts val="1100"/>
              <a:buFont typeface="Arial"/>
              <a:buNone/>
            </a:pPr>
            <a:r>
              <a:t/>
            </a:r>
            <a:endParaRPr sz="1600">
              <a:solidFill>
                <a:schemeClr val="dk1"/>
              </a:solidFill>
            </a:endParaRPr>
          </a:p>
          <a:p>
            <a:pPr indent="0" lvl="0" marL="0" rtl="0" algn="just">
              <a:lnSpc>
                <a:spcPct val="115000"/>
              </a:lnSpc>
              <a:spcBef>
                <a:spcPts val="0"/>
              </a:spcBef>
              <a:spcAft>
                <a:spcPts val="0"/>
              </a:spcAft>
              <a:buClr>
                <a:schemeClr val="dk1"/>
              </a:buClr>
              <a:buSzPts val="1100"/>
              <a:buFont typeface="Arial"/>
              <a:buNone/>
            </a:pPr>
            <a:r>
              <a:t/>
            </a:r>
            <a:endParaRPr sz="1600">
              <a:solidFill>
                <a:schemeClr val="dk1"/>
              </a:solidFill>
            </a:endParaRPr>
          </a:p>
          <a:p>
            <a:pPr indent="0" lvl="0" marL="0" rtl="0" algn="just">
              <a:lnSpc>
                <a:spcPct val="115000"/>
              </a:lnSpc>
              <a:spcBef>
                <a:spcPts val="0"/>
              </a:spcBef>
              <a:spcAft>
                <a:spcPts val="0"/>
              </a:spcAft>
              <a:buClr>
                <a:srgbClr val="000000"/>
              </a:buClr>
              <a:buSzPts val="1100"/>
              <a:buFont typeface="Arial"/>
              <a:buNone/>
            </a:pPr>
            <a:r>
              <a:t/>
            </a:r>
            <a:endParaRPr sz="1600">
              <a:solidFill>
                <a:schemeClr val="dk1"/>
              </a:solidFill>
            </a:endParaRPr>
          </a:p>
        </p:txBody>
      </p:sp>
      <p:sp>
        <p:nvSpPr>
          <p:cNvPr id="161" name="Google Shape;161;p14"/>
          <p:cNvSpPr/>
          <p:nvPr/>
        </p:nvSpPr>
        <p:spPr>
          <a:xfrm>
            <a:off x="-25193637" y="37382325"/>
            <a:ext cx="9601200" cy="914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4"/>
          <p:cNvSpPr/>
          <p:nvPr/>
        </p:nvSpPr>
        <p:spPr>
          <a:xfrm>
            <a:off x="-25193637" y="36467925"/>
            <a:ext cx="9601200" cy="914400"/>
          </a:xfrm>
          <a:prstGeom prst="rect">
            <a:avLst/>
          </a:prstGeom>
          <a:solidFill>
            <a:srgbClr val="3D85C6"/>
          </a:solidFill>
          <a:ln cap="flat" cmpd="sng" w="9525">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5000">
                <a:solidFill>
                  <a:srgbClr val="FFFFFF"/>
                </a:solidFill>
                <a:latin typeface="Comfortaa"/>
                <a:ea typeface="Comfortaa"/>
                <a:cs typeface="Comfortaa"/>
                <a:sym typeface="Comfortaa"/>
              </a:rPr>
              <a:t>MATERIALS</a:t>
            </a:r>
            <a:endParaRPr b="1" sz="5000">
              <a:solidFill>
                <a:srgbClr val="FFFFFF"/>
              </a:solidFill>
              <a:latin typeface="Comfortaa"/>
              <a:ea typeface="Comfortaa"/>
              <a:cs typeface="Comfortaa"/>
              <a:sym typeface="Comfortaa"/>
            </a:endParaRPr>
          </a:p>
        </p:txBody>
      </p:sp>
      <p:sp>
        <p:nvSpPr>
          <p:cNvPr id="163" name="Google Shape;163;p14"/>
          <p:cNvSpPr txBox="1"/>
          <p:nvPr/>
        </p:nvSpPr>
        <p:spPr>
          <a:xfrm>
            <a:off x="-24975451" y="37382325"/>
            <a:ext cx="4362900" cy="892800"/>
          </a:xfrm>
          <a:prstGeom prst="rect">
            <a:avLst/>
          </a:prstGeom>
          <a:noFill/>
          <a:ln>
            <a:noFill/>
          </a:ln>
        </p:spPr>
        <p:txBody>
          <a:bodyPr anchorCtr="0" anchor="t" bIns="91425" lIns="91425" spcFirstLastPara="1" rIns="91425" wrap="square" tIns="91425">
            <a:noAutofit/>
          </a:bodyPr>
          <a:lstStyle/>
          <a:p>
            <a:pPr indent="-482600" lvl="0" marL="457200" rtl="0" algn="l">
              <a:spcBef>
                <a:spcPts val="0"/>
              </a:spcBef>
              <a:spcAft>
                <a:spcPts val="0"/>
              </a:spcAft>
              <a:buSzPts val="4000"/>
              <a:buFont typeface="Calibri"/>
              <a:buChar char="●"/>
            </a:pPr>
            <a:r>
              <a:rPr lang="en" sz="4000">
                <a:latin typeface="Calibri"/>
                <a:ea typeface="Calibri"/>
                <a:cs typeface="Calibri"/>
                <a:sym typeface="Calibri"/>
              </a:rPr>
              <a:t>Computer </a:t>
            </a:r>
            <a:endParaRPr sz="4000">
              <a:latin typeface="Calibri"/>
              <a:ea typeface="Calibri"/>
              <a:cs typeface="Calibri"/>
              <a:sym typeface="Calibri"/>
            </a:endParaRPr>
          </a:p>
          <a:p>
            <a:pPr indent="0" lvl="0" marL="0" rtl="0" algn="l">
              <a:spcBef>
                <a:spcPts val="0"/>
              </a:spcBef>
              <a:spcAft>
                <a:spcPts val="0"/>
              </a:spcAft>
              <a:buNone/>
            </a:pPr>
            <a:r>
              <a:t/>
            </a:r>
            <a:endParaRPr sz="5000">
              <a:latin typeface="Calibri"/>
              <a:ea typeface="Calibri"/>
              <a:cs typeface="Calibri"/>
              <a:sym typeface="Calibri"/>
            </a:endParaRPr>
          </a:p>
        </p:txBody>
      </p:sp>
      <p:sp>
        <p:nvSpPr>
          <p:cNvPr id="164" name="Google Shape;164;p14"/>
          <p:cNvSpPr txBox="1"/>
          <p:nvPr/>
        </p:nvSpPr>
        <p:spPr>
          <a:xfrm>
            <a:off x="-56413750" y="36613498"/>
            <a:ext cx="7315200" cy="33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sz="1000">
              <a:solidFill>
                <a:schemeClr val="dk1"/>
              </a:solidFill>
              <a:latin typeface="Times New Roman"/>
              <a:ea typeface="Times New Roman"/>
              <a:cs typeface="Times New Roman"/>
              <a:sym typeface="Times New Roman"/>
            </a:endParaRPr>
          </a:p>
        </p:txBody>
      </p:sp>
      <p:sp>
        <p:nvSpPr>
          <p:cNvPr id="165" name="Google Shape;165;p14"/>
          <p:cNvSpPr/>
          <p:nvPr/>
        </p:nvSpPr>
        <p:spPr>
          <a:xfrm>
            <a:off x="-57869264" y="36613498"/>
            <a:ext cx="9601200" cy="414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Times New Roman"/>
              <a:ea typeface="Times New Roman"/>
              <a:cs typeface="Times New Roman"/>
              <a:sym typeface="Times New Roman"/>
            </a:endParaRPr>
          </a:p>
        </p:txBody>
      </p:sp>
      <p:sp>
        <p:nvSpPr>
          <p:cNvPr id="166" name="Google Shape;166;p14"/>
          <p:cNvSpPr txBox="1"/>
          <p:nvPr/>
        </p:nvSpPr>
        <p:spPr>
          <a:xfrm>
            <a:off x="-57183475" y="36613498"/>
            <a:ext cx="8229600" cy="50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Image Source: Produced by researcher.</a:t>
            </a:r>
            <a:endParaRPr sz="1200">
              <a:solidFill>
                <a:schemeClr val="dk1"/>
              </a:solidFill>
              <a:latin typeface="Times New Roman"/>
              <a:ea typeface="Times New Roman"/>
              <a:cs typeface="Times New Roman"/>
              <a:sym typeface="Times New Roman"/>
            </a:endParaRPr>
          </a:p>
          <a:p>
            <a:pPr indent="0" lvl="0" marL="0" rtl="0" algn="ctr">
              <a:spcBef>
                <a:spcPts val="0"/>
              </a:spcBef>
              <a:spcAft>
                <a:spcPts val="0"/>
              </a:spcAft>
              <a:buNone/>
            </a:pPr>
            <a:r>
              <a:t/>
            </a:r>
            <a:endParaRPr sz="900">
              <a:solidFill>
                <a:schemeClr val="dk1"/>
              </a:solidFill>
              <a:latin typeface="Times New Roman"/>
              <a:ea typeface="Times New Roman"/>
              <a:cs typeface="Times New Roman"/>
              <a:sym typeface="Times New Roman"/>
            </a:endParaRPr>
          </a:p>
        </p:txBody>
      </p:sp>
      <p:sp>
        <p:nvSpPr>
          <p:cNvPr id="167" name="Google Shape;167;p14"/>
          <p:cNvSpPr txBox="1"/>
          <p:nvPr/>
        </p:nvSpPr>
        <p:spPr>
          <a:xfrm>
            <a:off x="-26054172" y="33966150"/>
            <a:ext cx="73152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sz="1000">
              <a:solidFill>
                <a:schemeClr val="dk1"/>
              </a:solidFill>
              <a:latin typeface="Times New Roman"/>
              <a:ea typeface="Times New Roman"/>
              <a:cs typeface="Times New Roman"/>
              <a:sym typeface="Times New Roman"/>
            </a:endParaRPr>
          </a:p>
        </p:txBody>
      </p:sp>
      <p:sp>
        <p:nvSpPr>
          <p:cNvPr id="168" name="Google Shape;168;p14"/>
          <p:cNvSpPr/>
          <p:nvPr/>
        </p:nvSpPr>
        <p:spPr>
          <a:xfrm>
            <a:off x="-27492497" y="33966150"/>
            <a:ext cx="9601200" cy="415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Times New Roman"/>
              <a:ea typeface="Times New Roman"/>
              <a:cs typeface="Times New Roman"/>
              <a:sym typeface="Times New Roman"/>
            </a:endParaRPr>
          </a:p>
        </p:txBody>
      </p:sp>
      <p:sp>
        <p:nvSpPr>
          <p:cNvPr id="169" name="Google Shape;169;p14"/>
          <p:cNvSpPr txBox="1"/>
          <p:nvPr/>
        </p:nvSpPr>
        <p:spPr>
          <a:xfrm>
            <a:off x="-26806709" y="33966150"/>
            <a:ext cx="82296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1"/>
                </a:solidFill>
                <a:latin typeface="Times New Roman"/>
                <a:ea typeface="Times New Roman"/>
                <a:cs typeface="Times New Roman"/>
                <a:sym typeface="Times New Roman"/>
              </a:rPr>
              <a:t>SOURCE</a:t>
            </a:r>
            <a:endParaRPr sz="1000">
              <a:solidFill>
                <a:schemeClr val="dk1"/>
              </a:solidFill>
              <a:latin typeface="Times New Roman"/>
              <a:ea typeface="Times New Roman"/>
              <a:cs typeface="Times New Roman"/>
              <a:sym typeface="Times New Roman"/>
            </a:endParaRPr>
          </a:p>
        </p:txBody>
      </p:sp>
      <p:pic>
        <p:nvPicPr>
          <p:cNvPr id="170" name="Google Shape;170;p14"/>
          <p:cNvPicPr preferRelativeResize="0"/>
          <p:nvPr/>
        </p:nvPicPr>
        <p:blipFill rotWithShape="1">
          <a:blip r:embed="rId3">
            <a:alphaModFix/>
          </a:blip>
          <a:srcRect b="15919" l="0" r="0" t="18997"/>
          <a:stretch/>
        </p:blipFill>
        <p:spPr>
          <a:xfrm>
            <a:off x="-7347000" y="36261525"/>
            <a:ext cx="4592352" cy="2241600"/>
          </a:xfrm>
          <a:prstGeom prst="rect">
            <a:avLst/>
          </a:prstGeom>
          <a:noFill/>
          <a:ln>
            <a:noFill/>
          </a:ln>
        </p:spPr>
      </p:pic>
      <p:sp>
        <p:nvSpPr>
          <p:cNvPr id="171" name="Google Shape;171;p14"/>
          <p:cNvSpPr/>
          <p:nvPr/>
        </p:nvSpPr>
        <p:spPr>
          <a:xfrm>
            <a:off x="-2328150" y="43205388"/>
            <a:ext cx="685800" cy="685800"/>
          </a:xfrm>
          <a:prstGeom prst="rect">
            <a:avLst/>
          </a:prstGeom>
          <a:solidFill>
            <a:srgbClr val="B7B7B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